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6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58" y="379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EF6E8-70CE-4687-A92E-ED4A8D3DFD7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CFE3-757B-4622-8828-7F9D1A4779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854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show that model can recreate historical conditions. Historical time series + median simulation values for BU and TD. Ask DK for </a:t>
            </a:r>
            <a:r>
              <a:rPr lang="en-US" dirty="0" err="1"/>
              <a:t>colour</a:t>
            </a:r>
            <a:r>
              <a:rPr lang="en-US" dirty="0"/>
              <a:t> suggestions.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Would have one of these comparisons for community, FG and stocks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333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E1630-5250-ED78-6B6A-5D7C6A7FC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3F3C2-195B-0D63-3416-D5776A014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2EBF48-4F72-FF56-9B5F-976B14EDE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show that model can recreate historical conditions. Same plot as previous slide, but with median historical biomass (horizontal black line) across all years.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Would have one of these comparisons for community, FG and stocks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82BA-A718-E0ED-0DC4-3B48A345B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3680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54EA-BF94-BD3A-FE6D-F217B7645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552DA0-D803-A700-42CB-E6D1E6A82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71DDB-C5D7-234D-5460-B23F3C9C4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show that model can recreate historical conditions. Same plot as previous slide, but with CIs (1</a:t>
            </a:r>
            <a:r>
              <a:rPr lang="en-US" baseline="30000" dirty="0"/>
              <a:t>st</a:t>
            </a:r>
            <a:r>
              <a:rPr lang="en-US" dirty="0"/>
              <a:t> and 3 quantiles)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Would have one of these comparisons for community, FG and stocks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CA507-C842-82D7-CA04-6AC6D691E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488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9ED94-8306-A929-6174-CC2869297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90BDA-D4BD-D097-48F2-DAB72774A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5C825-8BEC-E582-63AF-EA9F676AF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show that model can recreate historical conditions. Same data, just arranged differently</a:t>
            </a:r>
          </a:p>
          <a:p>
            <a:r>
              <a:rPr lang="en-US" dirty="0"/>
              <a:t>Would have one of these comparisons for community, FG and stocks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FCFC78-B1A1-CE5C-05A2-98CE8B3F5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15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distribution of historical and simulated lambdas for each stock. Y-axis is log scale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9372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7976-FB19-02CE-5721-55A0CDF27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80588A-0E98-F4E0-078A-9874E8267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A2914-4797-0496-6711-A1E609920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also show functional groups in two separate figures to make differences in lambda more visible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69C0C5-13B8-96F9-1FBD-A43731F4A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7609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E79BB-1967-78E3-08FE-54179EFAB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D3B59-412D-CCC9-E870-4EFDEFB03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3B6DEC-8891-F330-E005-20A12485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Could also show functional groups in two separate figures to make differences in lambda more visible – same idea but with grey line at 1 for ref point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4B847-7700-18BB-DED8-054494327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38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Frankenstein figures together – think I like this best, but with grey background line added 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77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EA287-6DD1-C9C7-B2E5-609747E8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85107E-1DF0-8892-5FE5-EA4E71D16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A78BE5-073E-73F1-AF53-6B23453196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Comparing distribution of historical and simulated lambdas for each stock. X-axis is log scale. White line is at lambda =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4A6A4-F523-893E-72DF-A239E9445D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737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Lambdas as violins?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39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Scaling issues here</a:t>
            </a:r>
          </a:p>
          <a:p>
            <a:r>
              <a:rPr lang="en-US" dirty="0"/>
              <a:t>Realizing that </a:t>
            </a:r>
            <a:r>
              <a:rPr lang="en-US" dirty="0" err="1"/>
              <a:t>colour</a:t>
            </a:r>
            <a:r>
              <a:rPr lang="en-US" dirty="0"/>
              <a:t> scale is tricky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86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57806-EFB6-7564-0AFE-0298BEB79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350F1F-2143-CA44-E10A-58F4DBF26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C012A0-7712-D764-4228-6CC2080B4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Heatmap with cluster analysis – too much? Tried to scale using built-in </a:t>
            </a:r>
            <a:r>
              <a:rPr lang="en-US" dirty="0" err="1"/>
              <a:t>pheatmap</a:t>
            </a:r>
            <a:r>
              <a:rPr lang="en-US" dirty="0"/>
              <a:t> function but don’t fully understand how it works yet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687DE-220D-245B-1DF4-40C8BD3A82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3723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 tried violins for percent change – couldn’t get a good layout where everything was visible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F0CFE3-757B-4622-8828-7F9D1A47799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400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9AF1B-87EF-66EE-5FE2-BDF8D9B11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59BC5-3D99-8B50-BB28-9B1203D888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F1942-6DB4-A86B-A04E-D5B54BB25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14E98-2BA4-2E93-ACD8-6E399E955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52808-9978-FAC4-6117-33F7DBC2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74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6B4E-33E3-DCB5-D027-FA893E07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AE470-A4BB-6A64-17E1-75C65F5FB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B50BE-7A4D-8144-FDFD-D4855F89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5471E-C0B1-44EA-8836-EE4F8D0A0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028DB-596C-B013-DFFE-F801439C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87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A1832-4C5B-2251-14CB-B3870452E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66AE0-8E39-6B75-7624-C128D9C71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6CC16A-8AA4-9FDA-3A94-D658BA71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763D9-3A5F-B5FD-D59D-108DA56B9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6B7A0-6A45-F0E4-2BF6-D30BF8B79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0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D90C0-6505-1BCC-4D96-07C192B72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DDE26-BDD7-B111-BAB3-B15DEDD9A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01A49-DA35-EDF1-B42B-5079A880D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FCD53-04DD-5FE4-884E-C1AF68AE3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A161C-2281-3A74-1046-AC3890E39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7C6EA8-0D28-5118-C991-DC7F31E99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2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B6FCD-2F0A-3792-936D-F606F323B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E72404-A36C-7B6B-4216-9A814596D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6269B8-5A06-017D-3055-5CBC6BD06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91900F-9713-C388-C994-06C2DA3772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958958-F4C8-37F4-3B59-B26CFC6B9A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42CD6E-67E8-9054-003D-735BAE9DF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88B53-AD22-8543-6144-87664A71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1E5E4A-A27B-B101-F491-B6D4B92E3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583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7EE7F-738A-6D63-AD2E-42309CAAE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F22910-4EAF-09C1-37C5-C568FD4AA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9FE84-0918-7C5E-936A-17AC57440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4B5FCB-D5D0-C303-1D73-BAD690DE6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873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443AC3-EF92-E374-DA4E-3D1B8AD98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2012D0-0E0D-7912-7D24-ED8A077F2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7FB5B-7961-A527-7E21-741D06E5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609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FF944-A711-0D7D-50FC-AEF3E0CC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D84006-45EB-081F-75C3-AE6C3574B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A0E69-D4C8-F1FA-20E6-6699B2F4CE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9CB032-A05F-7564-21DC-91557EB2C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4BAC2-193A-A977-28A2-831B02A60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781326-3752-7AEB-1956-C7CFF6210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87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C73C1-8732-8CAF-2FC0-E8C61E9C4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A332D0-DC67-94C7-72AC-B55340CE7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F03828-092E-711F-61FF-1E80E69A1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ABC4A-0EEA-3F12-6248-2A567941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A40E2-FEDE-BEB7-18EC-4B2AF277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13397-D0B1-FF0B-95A8-65D7D5731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120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67583-B2FE-C625-D133-5904EFA04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E89EDF-1EC2-92F5-F2A7-B1D4584269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C156E9-EE5A-83B0-4E31-C7986701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217B8-AAED-BADA-E9E8-0F8E3647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91465-1726-AA9B-4B0C-CB572701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1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178D47-2B9D-64FF-E3D5-57D0E79990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26B656-3066-B104-F770-72D90B5E2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7525B-88B8-AA36-4DA3-9B5CC176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3676E-F148-2D9A-D4B5-5265BC2B8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F5511-8411-521C-F00C-767E84CF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905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D2426A-C187-DDA5-45F0-160F11926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BD11A-CB9B-8C01-C78A-0C1FC446E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CC0F9-EC1E-869C-0D33-1FA175C76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1277A-FF95-4628-ACD3-8D119F965A59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C16C2-201C-10DC-777C-8F80EB4FA1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29074-F537-24AF-0454-C8F77EBD63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87F0C-26A7-43FE-A9DF-F5255A624E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96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E5DF-45BD-9F69-949A-9C62BE7A4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 ideas for chapter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E379F-F83F-46A6-855A-B2E01B8AE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TD-Neutral = top-down without environmental degradation</a:t>
            </a:r>
          </a:p>
          <a:p>
            <a:r>
              <a:rPr lang="en-US" dirty="0"/>
              <a:t>TD-Env = top-down with environmental degradation</a:t>
            </a:r>
          </a:p>
          <a:p>
            <a:r>
              <a:rPr lang="en-US" dirty="0"/>
              <a:t>BU-Neutral = bottom-up without environmental degradation</a:t>
            </a:r>
          </a:p>
          <a:p>
            <a:r>
              <a:rPr lang="en-US" dirty="0"/>
              <a:t>BU-Env = bottom-up with environmental degradation</a:t>
            </a:r>
          </a:p>
          <a:p>
            <a:endParaRPr lang="en-US" dirty="0"/>
          </a:p>
          <a:p>
            <a:r>
              <a:rPr lang="en-US" dirty="0"/>
              <a:t>10 sims, 1% env deg applied to the community K per year (when applicable), 0 fishing on anyone</a:t>
            </a:r>
          </a:p>
        </p:txBody>
      </p:sp>
    </p:spTree>
    <p:extLst>
      <p:ext uri="{BB962C8B-B14F-4D97-AF65-F5344CB8AC3E}">
        <p14:creationId xmlns:p14="http://schemas.microsoft.com/office/powerpoint/2010/main" val="3005412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B1DCD7-0EE6-37E2-0D07-B389A5428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516" y="301450"/>
            <a:ext cx="11491454" cy="6556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195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A3F25-8ADB-CAED-C0B0-696227F4A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1CE190-BF91-A94A-BFE2-6FD8D546A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969" y="0"/>
            <a:ext cx="119720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23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9099-7B25-6040-C728-2CCEDC4F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BB67977-C97C-0F73-D85F-54A8D6DED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237" y="0"/>
            <a:ext cx="117895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56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326A8-306D-32F4-DDB1-EB625BD37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116F29-A545-2881-AF91-B9937C649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50" y="0"/>
            <a:ext cx="119880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08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A3EF06-46F0-0B99-A78C-FF7A28C15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81" y="0"/>
            <a:ext cx="118396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90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85B66-F102-E5CC-42D6-C1777D4C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A1B5F0-2D61-E032-1D1F-B37A207A8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155" y="0"/>
            <a:ext cx="117316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36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EE786-3646-8541-5740-1355455F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1E016C7-598A-673B-0914-C9668C62C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79" y="0"/>
            <a:ext cx="119514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089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502CA3-A7A3-3701-3CCA-AB0A479F8B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5587"/>
          <a:stretch/>
        </p:blipFill>
        <p:spPr>
          <a:xfrm>
            <a:off x="0" y="1033275"/>
            <a:ext cx="6193913" cy="42893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53B54C-47C5-FBF0-925D-B8AF66054C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1" r="15971"/>
          <a:stretch/>
        </p:blipFill>
        <p:spPr>
          <a:xfrm>
            <a:off x="6193913" y="1000982"/>
            <a:ext cx="5933693" cy="428936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C7326D-5519-9958-E401-19AF6FEAE58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5250" t="42769" b="36614"/>
          <a:stretch/>
        </p:blipFill>
        <p:spPr>
          <a:xfrm>
            <a:off x="5651429" y="5382550"/>
            <a:ext cx="1084968" cy="884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F634EE-CCF9-DCA7-3D42-42489840D492}"/>
              </a:ext>
            </a:extLst>
          </p:cNvPr>
          <p:cNvSpPr txBox="1"/>
          <p:nvPr/>
        </p:nvSpPr>
        <p:spPr>
          <a:xfrm>
            <a:off x="2942705" y="581891"/>
            <a:ext cx="1026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Larges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31561-F34C-446E-CB0B-811217B2AA57}"/>
              </a:ext>
            </a:extLst>
          </p:cNvPr>
          <p:cNvSpPr txBox="1"/>
          <p:nvPr/>
        </p:nvSpPr>
        <p:spPr>
          <a:xfrm>
            <a:off x="8789323" y="581891"/>
            <a:ext cx="11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Mediums</a:t>
            </a:r>
          </a:p>
        </p:txBody>
      </p:sp>
    </p:spTree>
    <p:extLst>
      <p:ext uri="{BB962C8B-B14F-4D97-AF65-F5344CB8AC3E}">
        <p14:creationId xmlns:p14="http://schemas.microsoft.com/office/powerpoint/2010/main" val="886389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08ED6-3827-8321-E2D5-22642D480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021CB9-ADDE-5CCE-019A-DDF30EA88B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03" y="0"/>
            <a:ext cx="119817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76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A39EB3-BB8E-DBBF-20A6-5D5A2868E1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7" r="15496"/>
          <a:stretch/>
        </p:blipFill>
        <p:spPr>
          <a:xfrm>
            <a:off x="6235978" y="1065125"/>
            <a:ext cx="5879664" cy="42031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5419FA-F6E8-C9C7-8029-AA9031780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909" t="43370" r="213" b="35897"/>
          <a:stretch/>
        </p:blipFill>
        <p:spPr>
          <a:xfrm>
            <a:off x="4587071" y="5531618"/>
            <a:ext cx="1473193" cy="1120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4C2481-8FFD-4862-7147-40DE486599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405"/>
          <a:stretch/>
        </p:blipFill>
        <p:spPr>
          <a:xfrm>
            <a:off x="53145" y="1065125"/>
            <a:ext cx="6042855" cy="420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820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9F3671-ADE6-D115-B6E1-8EEBBFF2E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55" y="0"/>
            <a:ext cx="120400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27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F630A-C9F9-B436-C46F-26748DBB7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2E528C-4F01-8438-ECEB-E315CC964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393" y="0"/>
            <a:ext cx="503685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2F719E-704D-586D-3BDC-170121EDFA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690"/>
          <a:stretch/>
        </p:blipFill>
        <p:spPr>
          <a:xfrm>
            <a:off x="1009499" y="0"/>
            <a:ext cx="45333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65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3140C8-DC82-EC05-F17B-A8037EEEE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27" y="0"/>
            <a:ext cx="11929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247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794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24499</TotalTime>
  <Words>364</Words>
  <Application>Microsoft Office PowerPoint</Application>
  <PresentationFormat>Widescreen</PresentationFormat>
  <Paragraphs>40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Plot ideas for chapter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Danielle Baribeau</dc:creator>
  <cp:lastModifiedBy>Danielle Baribeau</cp:lastModifiedBy>
  <cp:revision>12</cp:revision>
  <dcterms:created xsi:type="dcterms:W3CDTF">2026-04-28T17:47:41Z</dcterms:created>
  <dcterms:modified xsi:type="dcterms:W3CDTF">2026-05-15T18:07:09Z</dcterms:modified>
</cp:coreProperties>
</file>