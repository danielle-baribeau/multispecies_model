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78" r:id="rId4"/>
    <p:sldId id="279" r:id="rId5"/>
    <p:sldId id="280" r:id="rId6"/>
    <p:sldId id="263" r:id="rId7"/>
    <p:sldId id="262" r:id="rId8"/>
    <p:sldId id="258" r:id="rId9"/>
    <p:sldId id="302" r:id="rId10"/>
    <p:sldId id="285" r:id="rId11"/>
    <p:sldId id="286" r:id="rId12"/>
    <p:sldId id="287" r:id="rId13"/>
    <p:sldId id="281" r:id="rId14"/>
    <p:sldId id="282" r:id="rId15"/>
    <p:sldId id="284" r:id="rId16"/>
    <p:sldId id="259" r:id="rId17"/>
    <p:sldId id="260" r:id="rId18"/>
    <p:sldId id="261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7" r:id="rId27"/>
    <p:sldId id="298" r:id="rId28"/>
    <p:sldId id="299" r:id="rId29"/>
    <p:sldId id="300" r:id="rId30"/>
    <p:sldId id="301" r:id="rId31"/>
    <p:sldId id="303" r:id="rId32"/>
    <p:sldId id="304" r:id="rId33"/>
    <p:sldId id="307" r:id="rId34"/>
    <p:sldId id="311" r:id="rId35"/>
    <p:sldId id="305" r:id="rId36"/>
    <p:sldId id="308" r:id="rId37"/>
    <p:sldId id="309" r:id="rId38"/>
    <p:sldId id="310" r:id="rId39"/>
    <p:sldId id="306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328" r:id="rId57"/>
    <p:sldId id="329" r:id="rId58"/>
    <p:sldId id="330" r:id="rId59"/>
    <p:sldId id="331" r:id="rId60"/>
    <p:sldId id="332" r:id="rId61"/>
    <p:sldId id="333" r:id="rId62"/>
    <p:sldId id="334" r:id="rId63"/>
    <p:sldId id="335" r:id="rId64"/>
    <p:sldId id="336" r:id="rId65"/>
    <p:sldId id="337" r:id="rId66"/>
    <p:sldId id="338" r:id="rId67"/>
    <p:sldId id="339" r:id="rId68"/>
    <p:sldId id="340" r:id="rId69"/>
    <p:sldId id="341" r:id="rId70"/>
    <p:sldId id="342" r:id="rId71"/>
    <p:sldId id="343" r:id="rId72"/>
    <p:sldId id="344" r:id="rId73"/>
    <p:sldId id="295" r:id="rId74"/>
    <p:sldId id="348" r:id="rId75"/>
    <p:sldId id="296" r:id="rId76"/>
    <p:sldId id="345" r:id="rId77"/>
    <p:sldId id="347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0E70E-DB59-43B4-8902-0327AE3A788B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2041B-7F1D-471F-AD14-AAACD060E0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71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test by moving haddock to LP and see what’s different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45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Makes sense with literature – ecosystem biomass reaches its lowest in late 1990s (groundfish moratorium); showing some increase since then</a:t>
            </a:r>
          </a:p>
          <a:p>
            <a:r>
              <a:rPr lang="en-US" dirty="0"/>
              <a:t>Decline post-2010 – why could this be? Is this decline significant? Can you check this with a </a:t>
            </a:r>
            <a:r>
              <a:rPr lang="en-US" dirty="0" err="1"/>
              <a:t>glm</a:t>
            </a:r>
            <a:r>
              <a:rPr lang="en-US" dirty="0"/>
              <a:t>? No, ending where starting</a:t>
            </a:r>
          </a:p>
          <a:p>
            <a:r>
              <a:rPr lang="en-US" dirty="0"/>
              <a:t>Better to call this community &gt; ecosystem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487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76573-27A1-EA58-5FCA-770121D69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2B996-21B4-D165-47EC-1DFE83796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308D5-1E6A-A615-9036-1999A8D34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Makes sense with literature – ecosystem biomass reaches its lowest in late 1990s (groundfish moratorium); showing some increase since then</a:t>
            </a:r>
          </a:p>
          <a:p>
            <a:r>
              <a:rPr lang="en-US" dirty="0"/>
              <a:t>Decline post-2010 – why could this be? Is this decline significant? Can you check this with a </a:t>
            </a:r>
            <a:r>
              <a:rPr lang="en-US" dirty="0" err="1"/>
              <a:t>glm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63045-C7D0-4AC3-B9E1-552981904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408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Makes ecological sense – </a:t>
            </a:r>
            <a:r>
              <a:rPr lang="en-US" dirty="0" err="1"/>
              <a:t>Ms</a:t>
            </a:r>
            <a:r>
              <a:rPr lang="en-US" dirty="0"/>
              <a:t> are becoming more abundant post-1990s – ecosystem restructuring?</a:t>
            </a:r>
          </a:p>
          <a:p>
            <a:r>
              <a:rPr lang="en-US" dirty="0"/>
              <a:t>Not completely in line with TL concepts</a:t>
            </a:r>
          </a:p>
          <a:p>
            <a:r>
              <a:rPr lang="en-US" dirty="0" err="1"/>
              <a:t>Ms</a:t>
            </a:r>
            <a:r>
              <a:rPr lang="en-US" dirty="0"/>
              <a:t> staying relatively stable while L declines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45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Decline in Ls is driving overall ecosystem declines</a:t>
            </a:r>
          </a:p>
          <a:p>
            <a:r>
              <a:rPr lang="en-US" dirty="0"/>
              <a:t>Maybe some survey signals – triangles</a:t>
            </a:r>
          </a:p>
          <a:p>
            <a:r>
              <a:rPr lang="en-US" dirty="0"/>
              <a:t>Don’t need to detrend mediums, larges in full time series has more risk</a:t>
            </a:r>
          </a:p>
          <a:p>
            <a:r>
              <a:rPr lang="en-US" dirty="0"/>
              <a:t>Since 2000, very consistent – full time series = fairly consistent community, but structure has changed</a:t>
            </a:r>
          </a:p>
          <a:p>
            <a:r>
              <a:rPr lang="en-US" dirty="0"/>
              <a:t>Keep dotted ecosystem line – helps with scaling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464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51510-136D-B005-8EF9-99041E2D9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87156-BE8D-B826-CFB6-967F732BE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ACA0D-977C-8006-D1C3-7A8311095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the divergence of M and L post-1990s evidence of ecosystem restructuring? Interesting that they were more or less equal proportions before early 1990s.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3C1BB-0DC0-B29E-88FA-0E6B574B7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8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that M are on top; would expect LBs to be on top of LPs (could be because wolffish is in LB compared to cod/hake in LP)?</a:t>
            </a:r>
          </a:p>
          <a:p>
            <a:r>
              <a:rPr lang="en-US" dirty="0"/>
              <a:t>LB drops weirdly around 2009 – which species is driving this? 2008 and 2010 are similar biomasses; combo of haddock soaring and other two tanking in 2009</a:t>
            </a:r>
          </a:p>
          <a:p>
            <a:r>
              <a:rPr lang="en-US" dirty="0"/>
              <a:t>Wolffish and skate stay low into 2012 while haddock returns to 2008-level sizes</a:t>
            </a:r>
          </a:p>
          <a:p>
            <a:r>
              <a:rPr lang="en-US" dirty="0"/>
              <a:t>2015 tank could just be survey noise – weird tank/boom in GB haddock around this time; unassessed species, so we don’t know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05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Ecosystem biomass seems to most closely follow LPs in full time series, but from 2000-2017 looks closest to </a:t>
            </a:r>
            <a:r>
              <a:rPr lang="en-US" dirty="0" err="1"/>
              <a:t>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0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 how LB/eco stays fairly stable over time (wolffish versus cod/hake influence again?)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00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Makes some ecological sense – mediums are greater than larges – however, would expect the LPs to be the smallest, not the LBs (same with MPs and MBZs)</a:t>
            </a:r>
          </a:p>
          <a:p>
            <a:r>
              <a:rPr lang="en-US" dirty="0"/>
              <a:t>Is this just because of the nature of the survey?</a:t>
            </a:r>
          </a:p>
          <a:p>
            <a:r>
              <a:rPr lang="en-US" dirty="0"/>
              <a:t>Is this OK, since we are looking at FGs and not TLs?</a:t>
            </a:r>
          </a:p>
          <a:p>
            <a:r>
              <a:rPr lang="en-US" dirty="0"/>
              <a:t>2015 LB drop is driven by haddock and wolffish – why could this be?</a:t>
            </a:r>
          </a:p>
          <a:p>
            <a:r>
              <a:rPr lang="en-US" dirty="0"/>
              <a:t>Abundance of each FG is likely driven by how the groupings are done – check lit for relative abundances of these different groups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69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Ecosystem biomass seems to most closely follow the MPs, but LPs are also pretty close – evidence of TD?</a:t>
            </a:r>
          </a:p>
          <a:p>
            <a:r>
              <a:rPr lang="en-US" dirty="0"/>
              <a:t>Changes in size of ecosystem seems to be driven mostly by decline in LPs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009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 to see how LP/eco declined pre-2000 and MP filled the gap</a:t>
            </a:r>
          </a:p>
          <a:p>
            <a:r>
              <a:rPr lang="en-US" dirty="0"/>
              <a:t>MBZ pretty close to LB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455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Ecosystem looks really good! Outliers for LP/eco are a bit odd.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730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does not look so good – MP should be largest group in LBM. Super wide range of input data for MP/M is likely what is causing MP/M to be so much higher. Also problem with lognormal distribution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00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is quite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105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Weird outliers are driven by three iterations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88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is pretty consistent here, too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112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also being consistent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8289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all these, it looks like overprediction in larges made mediums too small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20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03E3-3FFE-3B0A-AB7B-72E9F1BE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6E653B-6D5A-93C4-95B5-C3D779ABA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19CA4-0DC5-1A4B-2F28-BDBB82A5F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looks a lot better! Ecosystem </a:t>
            </a:r>
            <a:r>
              <a:rPr lang="en-US" dirty="0" err="1"/>
              <a:t>arima</a:t>
            </a:r>
            <a:r>
              <a:rPr lang="en-US" dirty="0"/>
              <a:t> is also closer to median than in previous run, so shows that more iterations would likely improve ecosystem estimates.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C3E04-5F82-46A2-73A9-8FA1E31F3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411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3112-BD36-6659-A803-8095CB5BE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C6816F-2E2C-0DDB-0303-73FB0CC56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67B82-E9DD-E6F1-19CF-4E66734B2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 better here too – shape of distributions even looks pretty close!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BB669-1292-0817-FC5D-6E16709B7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197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D4A5-65CD-C71A-BA74-7AA364B0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1B4C8-E586-BF61-345B-23BBF19CE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3B943-300C-A659-0FBD-4B865B2EA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is more variable.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E07CF-B4CE-53DF-9729-D1F750A5C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99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F88C0-9D5E-E32B-A1D8-45037F80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4FEAC-AE9D-54FF-3836-F12EEE714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0E7E0-96C7-FA57-7D6F-31FB0A11C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CE01A-090B-B1C8-A2DC-D885B0BA4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605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8A455-750B-391F-F2D6-CDD25461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A35C2-50AC-95C0-7B6B-6684F604A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9DDC6E-957E-3A41-4D41-5A65806B2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7C626-A815-8DA6-12B1-164F6C519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645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9F49-EC29-25A6-5E21-D909E3749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D3F0F-2798-6CC4-8F54-E7110D9CC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0DB60-5143-56C9-0A19-35CC2F6D0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C71CD-F7EA-AE9B-8695-29A3E1F7A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214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shape to previous run – not too bad!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650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not starting in right spot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835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Spoiler alert – this fixed the larges, but not the mediums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770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91EEB-E22D-50D2-4359-D66A217D8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DB0C8-3D1B-6D41-EAD3-79A6589BA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7A695-E4AE-E906-DC5C-4A802B7A1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looks a lot better! Ecosystem </a:t>
            </a:r>
            <a:r>
              <a:rPr lang="en-US" dirty="0" err="1"/>
              <a:t>arima</a:t>
            </a:r>
            <a:r>
              <a:rPr lang="en-US" dirty="0"/>
              <a:t> is also closer to median than in previous run, so shows that more iterations would likely improve ecosystem estimates.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67766-C9BC-CC4C-FF12-478C7FFF2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005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A1222-91ED-4736-1767-5A7B5CD2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FC2E7-465F-9932-6F87-BCD5B1FD4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0E56A-A91C-F0CC-3C57-5757CF432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 better here too – shape of distributions even looks pretty close!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538C9-C40C-EA53-4D32-A528F71DC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269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9F0CB-34C8-3DE0-F254-B1891554B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D04ED-107D-00F5-51A1-F4D917AE8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F2F11-C81B-F8F9-F507-1E625A74E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Simulation is more variable.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848E8-BAE5-B560-CDA2-EE56F93B6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819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0ADA-E266-1270-0F9F-7AC2F8DE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46321-B323-F57F-D433-5EE1D8407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7CA4F-8A53-F1E2-2A03-6F1B3F42F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295BC-5C81-5D0F-9BFE-2BC3616E1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923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C867-FB2C-A22C-BB54-02C2B426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122F3-3122-F45B-F048-3875C6E2F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D34BB-3B6C-04EF-C9E1-175811CD0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D8381-C6E2-ADE4-A9A8-EF605DB89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779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A8C56-D240-A0EA-A2CA-2BEEC631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97664-1A0C-DF2C-81B0-139483B7D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684C1-EDB4-06CF-4302-4BF168526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F49EA-A42E-B05A-60CB-E5DC05D4F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414FD-CB2B-5733-D73C-FD7D069E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3D9F7-88ED-7B92-4FC6-CE501262C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16B13-9A14-C1F0-4DF1-AE6AC8446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 shape to previous run – not too bad!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D3A63-CBE5-D86B-F361-34E147270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533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98B64-D917-55C9-5D34-691E2513F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FED34-2571-2071-39C9-A24FA30B8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1D1502-5BBF-55CA-90B8-0681CE671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not starting in right spot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1314E-8564-91EF-107A-B4DFD86F4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5542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Projections start in wrong spot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497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Projections start in wrong spot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2041B-7F1D-471F-AD14-AAACD060E070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75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2513-9CE4-2694-6BF8-640754304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24DBD-475C-1EA2-0F7F-E9CAFA42F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4215F-5F7F-1E5D-1441-AC933C24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6707D-7AA1-F95E-6198-8B1D3F618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49FEB-5F34-C6E8-2884-E0E1E996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8CB7-0147-54ED-F6FE-5B629F008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84ECC-C5D6-7B20-6127-AA7B08F03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46C9E-4161-A616-95EE-300CE76ED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E1A19-29BD-5380-97F7-68D152BCA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39B0D-F532-B7D5-4341-CA4B0F90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57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4B4E-B3C7-8D06-D7B3-C480AC31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95BDA-4C08-B0BF-62E3-BB05174A4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8332F-253B-BC00-8A70-FE6B54D2B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22B60-7364-1357-F744-C3CEFC3F1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713FA-EA58-648D-CFCF-BCFA1B88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64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F81B1-DE8B-0A44-0487-9E0BF8696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5268C-7FA0-13D4-B9E2-8D1CC3A79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A0E3A-DAA4-C553-6716-02AA7AA9B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2AEF-F127-19E9-C57A-7F1B2032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04680-6724-B923-3ECF-EF793F930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5C37B-18C3-246F-9763-DF40338DD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29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9FA7C-455E-77FE-2262-60FD88BE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4AF4E-A863-CF4A-F90E-A0CC5DD5F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0295E-4738-6366-60D3-50E27F50C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2EF9D-2E4F-3C60-6454-146D19CA33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EC1433-3C73-3F45-5552-BC050F35DF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9B4B3-D331-3A2C-4D37-25AE1025A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DB594-43F3-22CF-70B9-6E65E320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C4C4F-D491-B74B-BCE9-0C4FF72CF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34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45A8-0918-43D2-5F2A-AAB95B77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17D676-914E-3E5D-6E1C-B16F622D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6A8E9B-FA2E-27BA-AA4B-20990C32B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000F3-3907-97CF-47F6-9899FD8D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6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39A05-0FA8-C1A4-1A61-D246EC1A0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F37171-7A86-2320-F0F1-9F236098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C7B7E-6EC2-59B7-F0A4-3C0DB0C1A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7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ABB7-8107-679B-2BC3-3EACBCD9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E1D86-5585-0B15-5D94-D3305105C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34EB9-CE94-7289-A689-897B04C0F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A3262-E005-61E5-E69F-74D8070A6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49852-9753-CBA0-77DC-291CA502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A5AFC-B3A4-E80D-4837-591EFE43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56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C9E9B-D9C9-4383-CB95-EC29D683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D71105-DD22-DD54-AC63-3443CE4A7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16E90-3ACA-7AFB-511C-E53CA2765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DA793-7AE2-B95C-D73D-EED5FC6E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B4DFE-AAD6-A838-80A5-4D915927C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CC855F-1D50-99FE-BA83-F4A0A214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1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367C-B4CC-D1D2-E32D-46D618709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84B27-F6DD-F4F3-C7F2-10163F2F2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92185-BECD-35F4-6129-A89137AE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871C4-1E18-ECBD-5165-726A3191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6D1FA-991F-C43C-1098-1F5C81CE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40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BB133B-07EA-0950-B936-AB2407928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D55AFE-CCF6-C355-057C-F5C2C1FEB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7A942-875B-3B79-9CE0-FA3A2D09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E15EA-5F05-3390-7B25-ADD8B316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55875-BA3D-C6FE-3F19-AA3109A2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5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8D265-2107-09C1-2E22-5B9C36CD6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15621-6B43-6A18-85F0-4250672B9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9B04D-F402-5B44-1E66-B3349F45D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7B6EE-5BA2-4516-A2EC-4AA2DCF24A7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5085E-7E7E-5C91-9057-07210AA7E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79DB9-3D67-FEAA-0481-16C5A4150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86954-A9E4-4FC9-8338-B8F2AFC35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2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ations.gc.ca/collections/collection_2017/mpo-dfo/Fs97-6-3186-eng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E3CB-06DE-8BE5-77C0-A7BCD17DB2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MPM Test Run – ESS Functional Groups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77945-57E0-6460-7260-93FDF2EB79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– February 2026</a:t>
            </a:r>
          </a:p>
        </p:txBody>
      </p:sp>
    </p:spTree>
    <p:extLst>
      <p:ext uri="{BB962C8B-B14F-4D97-AF65-F5344CB8AC3E}">
        <p14:creationId xmlns:p14="http://schemas.microsoft.com/office/powerpoint/2010/main" val="303475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4E1AF1-745E-648F-E9BB-C3A948777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Groups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7963C-41BE-BD52-1776-F1B53F1A2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SCALES</a:t>
            </a:r>
          </a:p>
        </p:txBody>
      </p:sp>
    </p:spTree>
    <p:extLst>
      <p:ext uri="{BB962C8B-B14F-4D97-AF65-F5344CB8AC3E}">
        <p14:creationId xmlns:p14="http://schemas.microsoft.com/office/powerpoint/2010/main" val="1534546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A04E0-CAAA-731B-2EF8-76BA6322B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2989878-75DA-8871-A2A1-CBFCD3D5BED6}"/>
              </a:ext>
            </a:extLst>
          </p:cNvPr>
          <p:cNvSpPr/>
          <p:nvPr/>
        </p:nvSpPr>
        <p:spPr>
          <a:xfrm flipH="1">
            <a:off x="2020615" y="3360840"/>
            <a:ext cx="1782815" cy="1639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F0E738-17DF-421D-56DA-13D3C97FA322}"/>
              </a:ext>
            </a:extLst>
          </p:cNvPr>
          <p:cNvSpPr/>
          <p:nvPr/>
        </p:nvSpPr>
        <p:spPr>
          <a:xfrm>
            <a:off x="4287568" y="594492"/>
            <a:ext cx="2071850" cy="1639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233726-5B1F-6B9E-F959-2B4AD00CF8DC}"/>
              </a:ext>
            </a:extLst>
          </p:cNvPr>
          <p:cNvSpPr/>
          <p:nvPr/>
        </p:nvSpPr>
        <p:spPr>
          <a:xfrm>
            <a:off x="1962807" y="614855"/>
            <a:ext cx="2071850" cy="1639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7D8DC-C1CA-ED0F-7081-1C912D66B92C}"/>
              </a:ext>
            </a:extLst>
          </p:cNvPr>
          <p:cNvSpPr txBox="1"/>
          <p:nvPr/>
        </p:nvSpPr>
        <p:spPr>
          <a:xfrm>
            <a:off x="2041634" y="256190"/>
            <a:ext cx="169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LARGE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7D64AE-5CC6-4C63-597D-023DD666B13F}"/>
              </a:ext>
            </a:extLst>
          </p:cNvPr>
          <p:cNvCxnSpPr/>
          <p:nvPr/>
        </p:nvCxnSpPr>
        <p:spPr>
          <a:xfrm>
            <a:off x="4047797" y="625522"/>
            <a:ext cx="0" cy="1628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079EE7B-4A98-2DBB-77EE-CABD80E95B71}"/>
              </a:ext>
            </a:extLst>
          </p:cNvPr>
          <p:cNvSpPr txBox="1"/>
          <p:nvPr/>
        </p:nvSpPr>
        <p:spPr>
          <a:xfrm>
            <a:off x="2631528" y="1070663"/>
            <a:ext cx="438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(6)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CDFB1E-A952-2CF1-FC39-9837AD1A053F}"/>
              </a:ext>
            </a:extLst>
          </p:cNvPr>
          <p:cNvSpPr txBox="1"/>
          <p:nvPr/>
        </p:nvSpPr>
        <p:spPr>
          <a:xfrm>
            <a:off x="5155323" y="1061231"/>
            <a:ext cx="438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(3)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900253-0808-415C-0315-1139788BB695}"/>
              </a:ext>
            </a:extLst>
          </p:cNvPr>
          <p:cNvSpPr/>
          <p:nvPr/>
        </p:nvSpPr>
        <p:spPr>
          <a:xfrm>
            <a:off x="4034657" y="3337035"/>
            <a:ext cx="4581198" cy="1639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D01DC-ED00-18E9-E4BB-7775B3A23B70}"/>
              </a:ext>
            </a:extLst>
          </p:cNvPr>
          <p:cNvSpPr txBox="1"/>
          <p:nvPr/>
        </p:nvSpPr>
        <p:spPr>
          <a:xfrm>
            <a:off x="2041634" y="2978370"/>
            <a:ext cx="169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9CD8DA5-5EC9-3FD8-22B7-668624EDF25F}"/>
              </a:ext>
            </a:extLst>
          </p:cNvPr>
          <p:cNvCxnSpPr/>
          <p:nvPr/>
        </p:nvCxnSpPr>
        <p:spPr>
          <a:xfrm>
            <a:off x="4047797" y="3347702"/>
            <a:ext cx="0" cy="1628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391EBF6-E467-DB42-4270-B2109E9B60EC}"/>
              </a:ext>
            </a:extLst>
          </p:cNvPr>
          <p:cNvSpPr txBox="1"/>
          <p:nvPr/>
        </p:nvSpPr>
        <p:spPr>
          <a:xfrm>
            <a:off x="2631528" y="3792843"/>
            <a:ext cx="438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(3)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1170BF-5E0D-FF23-C247-3E954078A17B}"/>
              </a:ext>
            </a:extLst>
          </p:cNvPr>
          <p:cNvSpPr txBox="1"/>
          <p:nvPr/>
        </p:nvSpPr>
        <p:spPr>
          <a:xfrm>
            <a:off x="5155323" y="3783411"/>
            <a:ext cx="438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F2B46B-F73A-427C-CE47-EC3171D7CC65}"/>
              </a:ext>
            </a:extLst>
          </p:cNvPr>
          <p:cNvSpPr txBox="1"/>
          <p:nvPr/>
        </p:nvSpPr>
        <p:spPr>
          <a:xfrm>
            <a:off x="7483364" y="3792843"/>
            <a:ext cx="4388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 (2)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A651EF0-00D9-25C6-602F-9C8A45E6F4EE}"/>
              </a:ext>
            </a:extLst>
          </p:cNvPr>
          <p:cNvCxnSpPr/>
          <p:nvPr/>
        </p:nvCxnSpPr>
        <p:spPr>
          <a:xfrm>
            <a:off x="3559066" y="4035972"/>
            <a:ext cx="12573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EF6E8B4-4AD5-1098-A988-8E4F00F5E741}"/>
              </a:ext>
            </a:extLst>
          </p:cNvPr>
          <p:cNvSpPr/>
          <p:nvPr/>
        </p:nvSpPr>
        <p:spPr>
          <a:xfrm>
            <a:off x="1700049" y="2770790"/>
            <a:ext cx="7178563" cy="28627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9CF6D02-8F05-2FA9-D7B7-E1DD16633F8F}"/>
              </a:ext>
            </a:extLst>
          </p:cNvPr>
          <p:cNvCxnSpPr/>
          <p:nvPr/>
        </p:nvCxnSpPr>
        <p:spPr>
          <a:xfrm>
            <a:off x="3568263" y="1424308"/>
            <a:ext cx="12573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A293D5-6124-6390-E167-BB3268441225}"/>
              </a:ext>
            </a:extLst>
          </p:cNvPr>
          <p:cNvCxnSpPr>
            <a:cxnSpLocks/>
          </p:cNvCxnSpPr>
          <p:nvPr/>
        </p:nvCxnSpPr>
        <p:spPr>
          <a:xfrm>
            <a:off x="2739259" y="1793193"/>
            <a:ext cx="0" cy="9775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32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0C99E-6103-C3D1-31E1-3299C9C7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F0D0AD-0366-BDB5-F3C4-E9B5622FF968}"/>
              </a:ext>
            </a:extLst>
          </p:cNvPr>
          <p:cNvSpPr/>
          <p:nvPr/>
        </p:nvSpPr>
        <p:spPr>
          <a:xfrm>
            <a:off x="1479665" y="522315"/>
            <a:ext cx="3732415" cy="2208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Large piscivores (LP):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 err="1"/>
              <a:t>Atl</a:t>
            </a:r>
            <a:r>
              <a:rPr lang="en-US" sz="2800" dirty="0"/>
              <a:t> cod*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White hake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American plaice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Pollock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CA0846-B57E-E9C5-0BAE-BFBA7A1FFEC0}"/>
              </a:ext>
            </a:extLst>
          </p:cNvPr>
          <p:cNvSpPr/>
          <p:nvPr/>
        </p:nvSpPr>
        <p:spPr>
          <a:xfrm>
            <a:off x="6343994" y="522316"/>
            <a:ext cx="3997040" cy="1796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Large benthivores (LB):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Haddock*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 err="1"/>
              <a:t>Atl</a:t>
            </a:r>
            <a:r>
              <a:rPr lang="en-US" sz="2800" dirty="0"/>
              <a:t> wolffish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Thorny skate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AEC754-0637-17E1-81A2-DEA55D436239}"/>
              </a:ext>
            </a:extLst>
          </p:cNvPr>
          <p:cNvSpPr/>
          <p:nvPr/>
        </p:nvSpPr>
        <p:spPr>
          <a:xfrm>
            <a:off x="1097280" y="3649980"/>
            <a:ext cx="4272742" cy="18440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Medium piscivores (MP):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Silver hake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Longhorn sculpin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Sea raven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DA5FB4-1D47-C3B1-7C0A-87174AB2A6A6}"/>
              </a:ext>
            </a:extLst>
          </p:cNvPr>
          <p:cNvSpPr/>
          <p:nvPr/>
        </p:nvSpPr>
        <p:spPr>
          <a:xfrm>
            <a:off x="6404955" y="3435927"/>
            <a:ext cx="4052456" cy="2567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Medium benthivores/</a:t>
            </a:r>
          </a:p>
          <a:p>
            <a:pPr algn="ctr"/>
            <a:r>
              <a:rPr lang="en-US" sz="2800" b="1" dirty="0" err="1"/>
              <a:t>zoopiscivores</a:t>
            </a:r>
            <a:r>
              <a:rPr lang="en-US" sz="2800" b="1" dirty="0"/>
              <a:t> (MBZ):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Redfish (Z)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Witch flounder (B)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Longfin hake (Z)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/>
              <a:t>Smooth skate (B)</a:t>
            </a:r>
          </a:p>
        </p:txBody>
      </p:sp>
    </p:spTree>
    <p:extLst>
      <p:ext uri="{BB962C8B-B14F-4D97-AF65-F5344CB8AC3E}">
        <p14:creationId xmlns:p14="http://schemas.microsoft.com/office/powerpoint/2010/main" val="243475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62973-C193-D6A2-DC67-D0D83D00F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Rationale behind classification (Bundy et al. 2017)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BDC5A-2010-7E39-4250-D9ECA7993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Fs97-6-3186-eng.pdf</a:t>
            </a:r>
            <a:endParaRPr lang="en-US" dirty="0"/>
          </a:p>
          <a:p>
            <a:r>
              <a:rPr lang="en-US" dirty="0"/>
              <a:t>Maximum adult length: small is &lt; 31 cm, medium is 30-80 cm and large is &gt;80 cm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Habitat (benthic includes infauna, bottom-dwelling and </a:t>
            </a:r>
            <a:r>
              <a:rPr lang="en-US" dirty="0" err="1"/>
              <a:t>bentho</a:t>
            </a:r>
            <a:r>
              <a:rPr lang="en-US" dirty="0"/>
              <a:t>-pelagic species)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Feeding guild (predominate prey type) – piscivore, benthivore, </a:t>
            </a:r>
            <a:r>
              <a:rPr lang="en-US" dirty="0" err="1"/>
              <a:t>planktivore</a:t>
            </a:r>
            <a:r>
              <a:rPr lang="en-US" dirty="0"/>
              <a:t>, </a:t>
            </a:r>
            <a:r>
              <a:rPr lang="en-US" dirty="0" err="1"/>
              <a:t>zoopiscivore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998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6A13F6-4A10-C1FD-56C4-BD2B56AA9704}"/>
              </a:ext>
            </a:extLst>
          </p:cNvPr>
          <p:cNvSpPr/>
          <p:nvPr/>
        </p:nvSpPr>
        <p:spPr>
          <a:xfrm>
            <a:off x="2763982" y="1382684"/>
            <a:ext cx="1795548" cy="1221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Large piscivores (LP)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4DD42-6F2D-7CD8-76D8-C1D83F05D4A3}"/>
              </a:ext>
            </a:extLst>
          </p:cNvPr>
          <p:cNvSpPr/>
          <p:nvPr/>
        </p:nvSpPr>
        <p:spPr>
          <a:xfrm>
            <a:off x="5962996" y="1385455"/>
            <a:ext cx="2064328" cy="1221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Large benthivores (LB)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9D02F8-3F3C-1C74-7976-FA4581621928}"/>
              </a:ext>
            </a:extLst>
          </p:cNvPr>
          <p:cNvSpPr/>
          <p:nvPr/>
        </p:nvSpPr>
        <p:spPr>
          <a:xfrm>
            <a:off x="2729345" y="4332315"/>
            <a:ext cx="1795548" cy="12219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Medium piscivores (MP)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C7AA0A-FD07-BD7F-A181-9DD21465B434}"/>
              </a:ext>
            </a:extLst>
          </p:cNvPr>
          <p:cNvSpPr/>
          <p:nvPr/>
        </p:nvSpPr>
        <p:spPr>
          <a:xfrm>
            <a:off x="5640183" y="4157748"/>
            <a:ext cx="2685011" cy="16819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Medium benthivores/</a:t>
            </a:r>
          </a:p>
          <a:p>
            <a:pPr algn="ctr"/>
            <a:r>
              <a:rPr lang="en-US" sz="2800" dirty="0" err="1"/>
              <a:t>zoopiscivores</a:t>
            </a:r>
            <a:r>
              <a:rPr lang="en-US" sz="2800" dirty="0"/>
              <a:t> (MBZ)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D4CE4B-1621-3695-BCCD-0E01DF5F8D1C}"/>
              </a:ext>
            </a:extLst>
          </p:cNvPr>
          <p:cNvSpPr txBox="1"/>
          <p:nvPr/>
        </p:nvSpPr>
        <p:spPr>
          <a:xfrm>
            <a:off x="8674331" y="594360"/>
            <a:ext cx="29967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“Functional groups (FGs)”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A9BF98-C30A-D052-A6A7-8296234E6A87}"/>
              </a:ext>
            </a:extLst>
          </p:cNvPr>
          <p:cNvSpPr/>
          <p:nvPr/>
        </p:nvSpPr>
        <p:spPr>
          <a:xfrm>
            <a:off x="2385752" y="3686694"/>
            <a:ext cx="6205451" cy="26060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41E37-9792-4BF7-A9C2-1776A7AF32FA}"/>
              </a:ext>
            </a:extLst>
          </p:cNvPr>
          <p:cNvSpPr txBox="1"/>
          <p:nvPr/>
        </p:nvSpPr>
        <p:spPr>
          <a:xfrm>
            <a:off x="276398" y="4595554"/>
            <a:ext cx="1988127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Mediums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C4A0A8-B65F-3102-9C1B-D5502DAA9F72}"/>
              </a:ext>
            </a:extLst>
          </p:cNvPr>
          <p:cNvSpPr txBox="1"/>
          <p:nvPr/>
        </p:nvSpPr>
        <p:spPr>
          <a:xfrm>
            <a:off x="8774084" y="2172394"/>
            <a:ext cx="29967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“Medium functional groups (MFGs)”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1EA508-A6DD-FEAA-5DCA-6614BAF996E3}"/>
              </a:ext>
            </a:extLst>
          </p:cNvPr>
          <p:cNvSpPr/>
          <p:nvPr/>
        </p:nvSpPr>
        <p:spPr>
          <a:xfrm>
            <a:off x="2385752" y="813260"/>
            <a:ext cx="6205451" cy="260604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C3BAF-BD34-33FE-D536-AFD243C8D8A3}"/>
              </a:ext>
            </a:extLst>
          </p:cNvPr>
          <p:cNvSpPr txBox="1"/>
          <p:nvPr/>
        </p:nvSpPr>
        <p:spPr>
          <a:xfrm>
            <a:off x="276398" y="1722120"/>
            <a:ext cx="1988127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Larges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C78F03-C65E-3A19-8BBC-0318ACE96C6F}"/>
              </a:ext>
            </a:extLst>
          </p:cNvPr>
          <p:cNvSpPr txBox="1"/>
          <p:nvPr/>
        </p:nvSpPr>
        <p:spPr>
          <a:xfrm>
            <a:off x="8772698" y="4623264"/>
            <a:ext cx="29967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“Broad functional groups (MFGs)”</a:t>
            </a:r>
          </a:p>
        </p:txBody>
      </p:sp>
    </p:spTree>
    <p:extLst>
      <p:ext uri="{BB962C8B-B14F-4D97-AF65-F5344CB8AC3E}">
        <p14:creationId xmlns:p14="http://schemas.microsoft.com/office/powerpoint/2010/main" val="347907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 animBg="1"/>
      <p:bldP spid="8" grpId="0" animBg="1"/>
      <p:bldP spid="9" grpId="0"/>
      <p:bldP spid="9" grpId="1"/>
      <p:bldP spid="10" grpId="0" animBg="1"/>
      <p:bldP spid="11" grpId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4111D-708A-9B2C-19B1-044F337A4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D19669-EBA9-A245-9DDF-FB757C0E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the ecosystem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56823-02A4-DA2C-B607-60C05A823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123877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the growth of the year&#10;&#10;AI-generated content may be incorrect.">
            <a:extLst>
              <a:ext uri="{FF2B5EF4-FFF2-40B4-BE49-F238E27FC236}">
                <a16:creationId xmlns:a16="http://schemas.microsoft.com/office/drawing/2014/main" id="{34319B7B-5ED3-9845-7138-61FDC4D3B5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9" y="56791"/>
            <a:ext cx="4117141" cy="3050304"/>
          </a:xfrm>
          <a:prstGeom prst="rect">
            <a:avLst/>
          </a:prstGeom>
        </p:spPr>
      </p:pic>
      <p:pic>
        <p:nvPicPr>
          <p:cNvPr id="7" name="Picture 6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6041CAA3-665B-CBC4-6A45-9DDF3C6BC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585" y="1138843"/>
            <a:ext cx="7642768" cy="56623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2D0132-1DB8-1AC0-F5D8-AE79DCB03163}"/>
              </a:ext>
            </a:extLst>
          </p:cNvPr>
          <p:cNvSpPr txBox="1"/>
          <p:nvPr/>
        </p:nvSpPr>
        <p:spPr>
          <a:xfrm>
            <a:off x="869697" y="3024900"/>
            <a:ext cx="299673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Ecosystem biomass</a:t>
            </a:r>
          </a:p>
          <a:p>
            <a:pPr algn="ctr"/>
            <a:r>
              <a:rPr lang="en-US" sz="3200" b="1" dirty="0"/>
              <a:t>(detrending on all the years – fit a smooth GAM and run </a:t>
            </a:r>
            <a:r>
              <a:rPr lang="en-US" sz="3200" b="1" dirty="0" err="1"/>
              <a:t>pacf</a:t>
            </a:r>
            <a:r>
              <a:rPr lang="en-US" sz="3200" b="1" dirty="0"/>
              <a:t> on residuals)</a:t>
            </a:r>
          </a:p>
        </p:txBody>
      </p:sp>
    </p:spTree>
    <p:extLst>
      <p:ext uri="{BB962C8B-B14F-4D97-AF65-F5344CB8AC3E}">
        <p14:creationId xmlns:p14="http://schemas.microsoft.com/office/powerpoint/2010/main" val="4145383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0F05-2DBD-6E3B-3F30-0BFD834D9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the growth of the year&#10;&#10;AI-generated content may be incorrect.">
            <a:extLst>
              <a:ext uri="{FF2B5EF4-FFF2-40B4-BE49-F238E27FC236}">
                <a16:creationId xmlns:a16="http://schemas.microsoft.com/office/drawing/2014/main" id="{C29758A3-EB73-FF36-4AC0-6F04A65BE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008" y="0"/>
            <a:ext cx="9391196" cy="695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64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D10E-908D-65B8-07D3-AF6B08624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166D33-E373-8F4D-6783-898B1470F81B}"/>
              </a:ext>
            </a:extLst>
          </p:cNvPr>
          <p:cNvSpPr txBox="1"/>
          <p:nvPr/>
        </p:nvSpPr>
        <p:spPr>
          <a:xfrm>
            <a:off x="631767" y="4214553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BFG biomass</a:t>
            </a:r>
          </a:p>
        </p:txBody>
      </p:sp>
      <p:pic>
        <p:nvPicPr>
          <p:cNvPr id="3" name="Picture 2" descr="A graph showing the number of groups&#10;&#10;AI-generated content may be incorrect.">
            <a:extLst>
              <a:ext uri="{FF2B5EF4-FFF2-40B4-BE49-F238E27FC236}">
                <a16:creationId xmlns:a16="http://schemas.microsoft.com/office/drawing/2014/main" id="{02D0C2C3-6E94-F187-AA22-321023040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71"/>
          <a:stretch/>
        </p:blipFill>
        <p:spPr>
          <a:xfrm>
            <a:off x="150731" y="40588"/>
            <a:ext cx="4377490" cy="2731707"/>
          </a:xfrm>
          <a:prstGeom prst="rect">
            <a:avLst/>
          </a:prstGeom>
        </p:spPr>
      </p:pic>
      <p:pic>
        <p:nvPicPr>
          <p:cNvPr id="10" name="Picture 9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920139BA-E2E9-B912-D8B7-B7141744A5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170" y="1236312"/>
            <a:ext cx="7587863" cy="562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86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15F3-5E5D-EBA6-FEC3-74598FAF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A3017E-1167-C26E-250C-AE77E7AC4FB5}"/>
              </a:ext>
            </a:extLst>
          </p:cNvPr>
          <p:cNvSpPr txBox="1"/>
          <p:nvPr/>
        </p:nvSpPr>
        <p:spPr>
          <a:xfrm>
            <a:off x="506141" y="4149239"/>
            <a:ext cx="36184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BFG + ecosystem biomass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0321C-640E-18B3-66C8-E46D238F6397}"/>
              </a:ext>
            </a:extLst>
          </p:cNvPr>
          <p:cNvSpPr txBox="1"/>
          <p:nvPr/>
        </p:nvSpPr>
        <p:spPr>
          <a:xfrm>
            <a:off x="411984" y="5171201"/>
            <a:ext cx="3818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*Dotted line = ecosystem biomass</a:t>
            </a:r>
          </a:p>
        </p:txBody>
      </p:sp>
      <p:pic>
        <p:nvPicPr>
          <p:cNvPr id="3" name="Picture 2" descr="A graph of different types of groups&#10;&#10;AI-generated content may be incorrect.">
            <a:extLst>
              <a:ext uri="{FF2B5EF4-FFF2-40B4-BE49-F238E27FC236}">
                <a16:creationId xmlns:a16="http://schemas.microsoft.com/office/drawing/2014/main" id="{8FBA5954-B5D4-7781-6A80-C59ED5636B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24"/>
          <a:stretch/>
        </p:blipFill>
        <p:spPr>
          <a:xfrm>
            <a:off x="188137" y="53058"/>
            <a:ext cx="4170053" cy="2582077"/>
          </a:xfrm>
          <a:prstGeom prst="rect">
            <a:avLst/>
          </a:prstGeom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8CE7411-FCA6-40BA-1E94-3FC140ED5C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347" y="846923"/>
            <a:ext cx="7687077" cy="569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505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55FD-F19A-4231-1EA1-C0D66892E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A3A764-214B-2413-602C-7E01AC2FC19D}"/>
                  </a:ext>
                </a:extLst>
              </p:cNvPr>
              <p:cNvSpPr txBox="1"/>
              <p:nvPr/>
            </p:nvSpPr>
            <p:spPr>
              <a:xfrm>
                <a:off x="943494" y="4301073"/>
                <a:ext cx="2996738" cy="803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𝑩𝑭𝑮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𝒆𝒄𝒐</m:t>
                        </m:r>
                      </m:den>
                    </m:f>
                  </m:oMath>
                </a14:m>
                <a:r>
                  <a:rPr lang="en-US" sz="3200" b="1" dirty="0"/>
                  <a:t> biomass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8A3A764-214B-2413-602C-7E01AC2FC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94" y="4301073"/>
                <a:ext cx="2996738" cy="803618"/>
              </a:xfrm>
              <a:prstGeom prst="rect">
                <a:avLst/>
              </a:prstGeom>
              <a:blipFill>
                <a:blip r:embed="rId3"/>
                <a:stretch>
                  <a:fillRect b="-13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graph showing different types of groups&#10;&#10;AI-generated content may be incorrect.">
            <a:extLst>
              <a:ext uri="{FF2B5EF4-FFF2-40B4-BE49-F238E27FC236}">
                <a16:creationId xmlns:a16="http://schemas.microsoft.com/office/drawing/2014/main" id="{A48DDF02-2A2A-59C4-E9C2-E3B7CA6CD8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86"/>
          <a:stretch/>
        </p:blipFill>
        <p:spPr>
          <a:xfrm>
            <a:off x="103959" y="277062"/>
            <a:ext cx="4437965" cy="2752516"/>
          </a:xfrm>
          <a:prstGeom prst="rect">
            <a:avLst/>
          </a:prstGeom>
        </p:spPr>
      </p:pic>
      <p:pic>
        <p:nvPicPr>
          <p:cNvPr id="7" name="Picture 6" descr="A graph of a number of groups&#10;&#10;AI-generated content may be incorrect.">
            <a:extLst>
              <a:ext uri="{FF2B5EF4-FFF2-40B4-BE49-F238E27FC236}">
                <a16:creationId xmlns:a16="http://schemas.microsoft.com/office/drawing/2014/main" id="{D9F36E07-A900-D850-3CE2-3BC0A78A01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924" y="867970"/>
            <a:ext cx="7551451" cy="559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35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F2722-245F-12C8-F8FF-44B8A8924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F9A2D4-1B51-EC4D-202B-DF5C17683B3E}"/>
              </a:ext>
            </a:extLst>
          </p:cNvPr>
          <p:cNvSpPr txBox="1"/>
          <p:nvPr/>
        </p:nvSpPr>
        <p:spPr>
          <a:xfrm>
            <a:off x="631767" y="4214553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MFG Biomass</a:t>
            </a: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A70DCDE-345A-01D2-4A96-562900BF1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70"/>
          <a:stretch/>
        </p:blipFill>
        <p:spPr>
          <a:xfrm>
            <a:off x="194395" y="288601"/>
            <a:ext cx="3603688" cy="2230155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78E2FE1-3E32-D8C7-FF9A-DF974DFF71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767" y="467367"/>
            <a:ext cx="8027400" cy="594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39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BA972-7389-D5C7-CE0E-99B62819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B092C9E-9CEE-79FE-49FB-99A009B09944}"/>
              </a:ext>
            </a:extLst>
          </p:cNvPr>
          <p:cNvSpPr txBox="1"/>
          <p:nvPr/>
        </p:nvSpPr>
        <p:spPr>
          <a:xfrm>
            <a:off x="506141" y="4149239"/>
            <a:ext cx="361845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MFG + ecosystem biomass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AF8C8AC-6EF6-9074-0E70-8E0D8F273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834" y="558010"/>
            <a:ext cx="7944328" cy="5885785"/>
          </a:xfrm>
          <a:prstGeom prst="rect">
            <a:avLst/>
          </a:prstGeom>
        </p:spPr>
      </p:pic>
      <p:pic>
        <p:nvPicPr>
          <p:cNvPr id="10" name="Picture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B23C2FA-A58A-597E-9918-CCF34B1FA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31"/>
          <a:stretch/>
        </p:blipFill>
        <p:spPr>
          <a:xfrm>
            <a:off x="134104" y="173773"/>
            <a:ext cx="3618457" cy="22349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A3C9DF5-4AAD-5F6D-9356-DE1A61D5F1BB}"/>
              </a:ext>
            </a:extLst>
          </p:cNvPr>
          <p:cNvSpPr txBox="1"/>
          <p:nvPr/>
        </p:nvSpPr>
        <p:spPr>
          <a:xfrm>
            <a:off x="411984" y="5171201"/>
            <a:ext cx="3818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*Dotted line = ecosystem biomass</a:t>
            </a:r>
          </a:p>
        </p:txBody>
      </p:sp>
    </p:spTree>
    <p:extLst>
      <p:ext uri="{BB962C8B-B14F-4D97-AF65-F5344CB8AC3E}">
        <p14:creationId xmlns:p14="http://schemas.microsoft.com/office/powerpoint/2010/main" val="72747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C8C8-99CD-5B73-8308-B20189B92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E298B7-C226-3442-3300-F8518D6DC7E0}"/>
                  </a:ext>
                </a:extLst>
              </p:cNvPr>
              <p:cNvSpPr txBox="1"/>
              <p:nvPr/>
            </p:nvSpPr>
            <p:spPr>
              <a:xfrm>
                <a:off x="943494" y="4301073"/>
                <a:ext cx="2996738" cy="803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𝑴𝑭𝑮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𝒆𝒄𝒐</m:t>
                        </m:r>
                      </m:den>
                    </m:f>
                  </m:oMath>
                </a14:m>
                <a:r>
                  <a:rPr lang="en-US" sz="3200" b="1" dirty="0"/>
                  <a:t> biomass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E298B7-C226-3442-3300-F8518D6DC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94" y="4301073"/>
                <a:ext cx="2996738" cy="803618"/>
              </a:xfrm>
              <a:prstGeom prst="rect">
                <a:avLst/>
              </a:prstGeom>
              <a:blipFill>
                <a:blip r:embed="rId3"/>
                <a:stretch>
                  <a:fillRect b="-13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9397106-92BE-97C5-38A1-DF0F85583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900" y="801203"/>
            <a:ext cx="7700642" cy="5705243"/>
          </a:xfrm>
          <a:prstGeom prst="rect">
            <a:avLst/>
          </a:prstGeom>
        </p:spPr>
      </p:pic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73107D9-968D-353F-B114-6AA72E5AAB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5" b="15127"/>
          <a:stretch/>
        </p:blipFill>
        <p:spPr>
          <a:xfrm>
            <a:off x="103909" y="91228"/>
            <a:ext cx="3876749" cy="246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08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A85D5A1-31F7-4F41-269F-422B691D7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19"/>
          <a:stretch/>
        </p:blipFill>
        <p:spPr>
          <a:xfrm>
            <a:off x="63766" y="37391"/>
            <a:ext cx="4302243" cy="2766099"/>
          </a:xfrm>
          <a:prstGeom prst="rect">
            <a:avLst/>
          </a:prstGeom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53E3445-81EA-469D-BCBD-718D52A36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791" y="764035"/>
            <a:ext cx="7818435" cy="57925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6572ED-64C7-BBB9-5F67-494F1A2FB46B}"/>
              </a:ext>
            </a:extLst>
          </p:cNvPr>
          <p:cNvSpPr txBox="1"/>
          <p:nvPr/>
        </p:nvSpPr>
        <p:spPr>
          <a:xfrm>
            <a:off x="631767" y="4214553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FG Biomass</a:t>
            </a:r>
          </a:p>
        </p:txBody>
      </p:sp>
    </p:spTree>
    <p:extLst>
      <p:ext uri="{BB962C8B-B14F-4D97-AF65-F5344CB8AC3E}">
        <p14:creationId xmlns:p14="http://schemas.microsoft.com/office/powerpoint/2010/main" val="312613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857B1E6-9B16-D473-F685-8DAA38DF22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77"/>
          <a:stretch/>
        </p:blipFill>
        <p:spPr>
          <a:xfrm>
            <a:off x="254685" y="157972"/>
            <a:ext cx="3975672" cy="2427756"/>
          </a:xfrm>
          <a:prstGeom prst="rect">
            <a:avLst/>
          </a:prstGeom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9E98574-9085-7213-D13A-828532496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065" y="1070149"/>
            <a:ext cx="7580250" cy="56160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5AD2C8-17CC-9479-A068-374987C34953}"/>
              </a:ext>
            </a:extLst>
          </p:cNvPr>
          <p:cNvSpPr txBox="1"/>
          <p:nvPr/>
        </p:nvSpPr>
        <p:spPr>
          <a:xfrm>
            <a:off x="411984" y="5171201"/>
            <a:ext cx="3818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*Dotted line = ecosystem biomass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2A99B-C027-BAC9-4DF3-23444941E43E}"/>
              </a:ext>
            </a:extLst>
          </p:cNvPr>
          <p:cNvSpPr txBox="1"/>
          <p:nvPr/>
        </p:nvSpPr>
        <p:spPr>
          <a:xfrm>
            <a:off x="631767" y="4214553"/>
            <a:ext cx="29967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Ecosystem + FG biomass</a:t>
            </a:r>
          </a:p>
        </p:txBody>
      </p:sp>
    </p:spTree>
    <p:extLst>
      <p:ext uri="{BB962C8B-B14F-4D97-AF65-F5344CB8AC3E}">
        <p14:creationId xmlns:p14="http://schemas.microsoft.com/office/powerpoint/2010/main" val="1329340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AF911A7-8567-7B92-F719-A07ED2677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" t="-51" r="-205" b="16845"/>
          <a:stretch/>
        </p:blipFill>
        <p:spPr>
          <a:xfrm>
            <a:off x="450627" y="389084"/>
            <a:ext cx="4352743" cy="2761074"/>
          </a:xfrm>
          <a:prstGeom prst="rect">
            <a:avLst/>
          </a:prstGeom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E09D91C-2780-90CA-6FD6-80C31691B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345" y="1082420"/>
            <a:ext cx="7351791" cy="54467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82612D-1D18-5018-D079-107898C3D3FF}"/>
                  </a:ext>
                </a:extLst>
              </p:cNvPr>
              <p:cNvSpPr txBox="1"/>
              <p:nvPr/>
            </p:nvSpPr>
            <p:spPr>
              <a:xfrm>
                <a:off x="943494" y="4301073"/>
                <a:ext cx="2996738" cy="8036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𝑭𝑮</m:t>
                        </m:r>
                      </m:num>
                      <m:den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𝒆𝒄𝒐</m:t>
                        </m:r>
                      </m:den>
                    </m:f>
                  </m:oMath>
                </a14:m>
                <a:r>
                  <a:rPr lang="en-US" sz="3200" b="1" dirty="0"/>
                  <a:t> biomass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82612D-1D18-5018-D079-107898C3D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494" y="4301073"/>
                <a:ext cx="2996738" cy="803618"/>
              </a:xfrm>
              <a:prstGeom prst="rect">
                <a:avLst/>
              </a:prstGeom>
              <a:blipFill>
                <a:blip r:embed="rId5"/>
                <a:stretch>
                  <a:fillRect b="-13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22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DE27A-D7D3-8397-79D6-7D2CC4F2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9EEF0B-2323-6444-24EF-F4680DDA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simulations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E3E3DF-D8DD-7366-F96F-B1CE6A96E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 – WHERE THINGS Kind of FELL APART</a:t>
            </a:r>
          </a:p>
        </p:txBody>
      </p:sp>
    </p:spTree>
    <p:extLst>
      <p:ext uri="{BB962C8B-B14F-4D97-AF65-F5344CB8AC3E}">
        <p14:creationId xmlns:p14="http://schemas.microsoft.com/office/powerpoint/2010/main" val="1972500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C35507-57BF-6623-8743-888BD3ACD5FA}"/>
              </a:ext>
            </a:extLst>
          </p:cNvPr>
          <p:cNvSpPr/>
          <p:nvPr/>
        </p:nvSpPr>
        <p:spPr>
          <a:xfrm>
            <a:off x="216131" y="286791"/>
            <a:ext cx="1093817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Eco 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91A7A8-072A-E387-534D-77C29C3E3621}"/>
              </a:ext>
            </a:extLst>
          </p:cNvPr>
          <p:cNvSpPr/>
          <p:nvPr/>
        </p:nvSpPr>
        <p:spPr>
          <a:xfrm>
            <a:off x="2031350" y="286791"/>
            <a:ext cx="117781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LP/eco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230F16-50C4-5DDD-8040-9F61B360D140}"/>
              </a:ext>
            </a:extLst>
          </p:cNvPr>
          <p:cNvSpPr/>
          <p:nvPr/>
        </p:nvSpPr>
        <p:spPr>
          <a:xfrm>
            <a:off x="3833103" y="286791"/>
            <a:ext cx="2858643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LP K (eco * LP/eco)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0279AD-8DC7-4FF6-9DE8-F322194ED095}"/>
              </a:ext>
            </a:extLst>
          </p:cNvPr>
          <p:cNvSpPr/>
          <p:nvPr/>
        </p:nvSpPr>
        <p:spPr>
          <a:xfrm>
            <a:off x="4014538" y="1546518"/>
            <a:ext cx="2502847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LBM (eco – LP)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6311A0-BE39-B239-4099-3FB3E23E40B3}"/>
              </a:ext>
            </a:extLst>
          </p:cNvPr>
          <p:cNvSpPr/>
          <p:nvPr/>
        </p:nvSpPr>
        <p:spPr>
          <a:xfrm>
            <a:off x="4512842" y="2554086"/>
            <a:ext cx="1499163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LB/LBM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E9D33-0461-F640-3AF9-8A9AFBB600F8}"/>
              </a:ext>
            </a:extLst>
          </p:cNvPr>
          <p:cNvSpPr/>
          <p:nvPr/>
        </p:nvSpPr>
        <p:spPr>
          <a:xfrm>
            <a:off x="3680212" y="3619496"/>
            <a:ext cx="3164421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LB K (LBM * LB/LBM)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6DEA91-DF20-9949-610F-34F9EF766EF0}"/>
              </a:ext>
            </a:extLst>
          </p:cNvPr>
          <p:cNvSpPr/>
          <p:nvPr/>
        </p:nvSpPr>
        <p:spPr>
          <a:xfrm>
            <a:off x="4131209" y="4557450"/>
            <a:ext cx="2269505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 K (LBM – LB)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BACAF2-44F9-05B8-986D-E9CF16F3A933}"/>
              </a:ext>
            </a:extLst>
          </p:cNvPr>
          <p:cNvSpPr/>
          <p:nvPr/>
        </p:nvSpPr>
        <p:spPr>
          <a:xfrm>
            <a:off x="4597132" y="5755176"/>
            <a:ext cx="133058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MP/M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931CC1-3BA6-BBFF-DC53-E2E2C8924DD4}"/>
              </a:ext>
            </a:extLst>
          </p:cNvPr>
          <p:cNvSpPr/>
          <p:nvPr/>
        </p:nvSpPr>
        <p:spPr>
          <a:xfrm>
            <a:off x="6264290" y="5755176"/>
            <a:ext cx="258584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MP K (M * MP/M)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813A4-AB34-0B3F-4B2E-00CC67D5D9D1}"/>
              </a:ext>
            </a:extLst>
          </p:cNvPr>
          <p:cNvSpPr/>
          <p:nvPr/>
        </p:nvSpPr>
        <p:spPr>
          <a:xfrm>
            <a:off x="9299975" y="6062747"/>
            <a:ext cx="258584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MBZ K (M – MP)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429669-62E4-5825-A2AC-64C906703470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1309948" y="546563"/>
            <a:ext cx="7214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946C3F1-8D17-7D2F-4B15-053C14A33952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209160" y="546563"/>
            <a:ext cx="62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A3ADDB5-8402-072E-2B24-8AC127573E5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262425" y="806335"/>
            <a:ext cx="3537" cy="740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7269CA-188A-39C8-72CA-0D428F0098F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5262424" y="2066062"/>
            <a:ext cx="3538" cy="488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C90BDD-9150-7418-BAD2-79BAA481A32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5262423" y="3073630"/>
            <a:ext cx="1" cy="545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FA40639-FFB2-9DB3-1187-5C72EC18E23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262423" y="4139040"/>
            <a:ext cx="3539" cy="418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5CB0A4-0D40-741F-4A12-3761EE581D8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262422" y="5076994"/>
            <a:ext cx="3540" cy="67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D0E098-6E43-7B52-54AA-AE3782440E36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927712" y="6014948"/>
            <a:ext cx="336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F10FF5-7F02-5A1E-887A-EA52EE924A17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8850130" y="6014948"/>
            <a:ext cx="449845" cy="307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84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A777F2-A443-B5A3-DEC6-152DBE885CB8}"/>
              </a:ext>
            </a:extLst>
          </p:cNvPr>
          <p:cNvSpPr txBox="1"/>
          <p:nvPr/>
        </p:nvSpPr>
        <p:spPr>
          <a:xfrm>
            <a:off x="120534" y="290182"/>
            <a:ext cx="29967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ecosystem PACF</a:t>
            </a:r>
          </a:p>
        </p:txBody>
      </p:sp>
      <p:pic>
        <p:nvPicPr>
          <p:cNvPr id="6" name="Picture 5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E24B2744-C4DF-FEBB-447F-5BB21E6EA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964" y="290182"/>
            <a:ext cx="6490413" cy="6490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410331-1DB0-BEB0-892E-1B9D45D266D8}"/>
              </a:ext>
            </a:extLst>
          </p:cNvPr>
          <p:cNvSpPr txBox="1"/>
          <p:nvPr/>
        </p:nvSpPr>
        <p:spPr>
          <a:xfrm>
            <a:off x="120534" y="1912154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2000-2017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95004-63DF-A4BF-E2FC-081BCE58A954}"/>
              </a:ext>
            </a:extLst>
          </p:cNvPr>
          <p:cNvSpPr txBox="1"/>
          <p:nvPr/>
        </p:nvSpPr>
        <p:spPr>
          <a:xfrm>
            <a:off x="0" y="3645878"/>
            <a:ext cx="29967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*PACF plots look more normal with more years</a:t>
            </a:r>
          </a:p>
        </p:txBody>
      </p:sp>
    </p:spTree>
    <p:extLst>
      <p:ext uri="{BB962C8B-B14F-4D97-AF65-F5344CB8AC3E}">
        <p14:creationId xmlns:p14="http://schemas.microsoft.com/office/powerpoint/2010/main" val="2665094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93F5-0DEF-9A86-EFA3-354C338C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AF819B-D0DD-2053-DA6C-44BE013154E0}"/>
              </a:ext>
            </a:extLst>
          </p:cNvPr>
          <p:cNvSpPr txBox="1"/>
          <p:nvPr/>
        </p:nvSpPr>
        <p:spPr>
          <a:xfrm>
            <a:off x="120534" y="290182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LP/eco PACF</a:t>
            </a:r>
          </a:p>
        </p:txBody>
      </p:sp>
      <p:pic>
        <p:nvPicPr>
          <p:cNvPr id="4" name="Picture 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02E86CCB-E60F-A641-4796-EE212221F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919" y="290182"/>
            <a:ext cx="6527852" cy="65278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5A9286-C15E-21D8-193A-32F92C379EAF}"/>
              </a:ext>
            </a:extLst>
          </p:cNvPr>
          <p:cNvSpPr txBox="1"/>
          <p:nvPr/>
        </p:nvSpPr>
        <p:spPr>
          <a:xfrm>
            <a:off x="120534" y="1912154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2000-2017</a:t>
            </a:r>
          </a:p>
        </p:txBody>
      </p:sp>
    </p:spTree>
    <p:extLst>
      <p:ext uri="{BB962C8B-B14F-4D97-AF65-F5344CB8AC3E}">
        <p14:creationId xmlns:p14="http://schemas.microsoft.com/office/powerpoint/2010/main" val="31987424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9BDF7-703F-C919-0F5A-98B4FCAB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865D1F-2485-6620-8979-A13CA03CFB0A}"/>
              </a:ext>
            </a:extLst>
          </p:cNvPr>
          <p:cNvSpPr txBox="1"/>
          <p:nvPr/>
        </p:nvSpPr>
        <p:spPr>
          <a:xfrm>
            <a:off x="120534" y="290182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LB/LBM PACF</a:t>
            </a:r>
          </a:p>
        </p:txBody>
      </p:sp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31D37FD8-8924-FE13-1719-6C16CDA9E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679" y="331123"/>
            <a:ext cx="6457194" cy="64571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988F79-0D9D-1383-514B-300974CE6154}"/>
              </a:ext>
            </a:extLst>
          </p:cNvPr>
          <p:cNvSpPr txBox="1"/>
          <p:nvPr/>
        </p:nvSpPr>
        <p:spPr>
          <a:xfrm>
            <a:off x="120534" y="1912154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2000-2017</a:t>
            </a:r>
          </a:p>
        </p:txBody>
      </p:sp>
    </p:spTree>
    <p:extLst>
      <p:ext uri="{BB962C8B-B14F-4D97-AF65-F5344CB8AC3E}">
        <p14:creationId xmlns:p14="http://schemas.microsoft.com/office/powerpoint/2010/main" val="1144258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2E57-F031-891A-B4E0-9FFC93C89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D0D1CA-02A6-B93A-099E-12B333EAA52B}"/>
              </a:ext>
            </a:extLst>
          </p:cNvPr>
          <p:cNvSpPr txBox="1"/>
          <p:nvPr/>
        </p:nvSpPr>
        <p:spPr>
          <a:xfrm>
            <a:off x="120534" y="290182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MP/M PACF</a:t>
            </a:r>
          </a:p>
        </p:txBody>
      </p:sp>
      <p:pic>
        <p:nvPicPr>
          <p:cNvPr id="4" name="Picture 3" descr="A graph with lines and text&#10;&#10;AI-generated content may be incorrect.">
            <a:extLst>
              <a:ext uri="{FF2B5EF4-FFF2-40B4-BE49-F238E27FC236}">
                <a16:creationId xmlns:a16="http://schemas.microsoft.com/office/drawing/2014/main" id="{66536D32-960F-0B2D-71C2-3BDE9DB4E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445" y="204771"/>
            <a:ext cx="6448457" cy="6448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653E7A-E503-C41B-0E72-BBEEF8998BC5}"/>
              </a:ext>
            </a:extLst>
          </p:cNvPr>
          <p:cNvSpPr txBox="1"/>
          <p:nvPr/>
        </p:nvSpPr>
        <p:spPr>
          <a:xfrm>
            <a:off x="120534" y="1912154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2000-2017</a:t>
            </a:r>
          </a:p>
        </p:txBody>
      </p:sp>
    </p:spTree>
    <p:extLst>
      <p:ext uri="{BB962C8B-B14F-4D97-AF65-F5344CB8AC3E}">
        <p14:creationId xmlns:p14="http://schemas.microsoft.com/office/powerpoint/2010/main" val="559590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4D4C0-5E65-B51F-B8F4-F47FBE3A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2AB84-755F-2197-97DE-B1D4633B8768}"/>
              </a:ext>
            </a:extLst>
          </p:cNvPr>
          <p:cNvSpPr txBox="1"/>
          <p:nvPr/>
        </p:nvSpPr>
        <p:spPr>
          <a:xfrm>
            <a:off x="120534" y="290182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Other M</a:t>
            </a:r>
          </a:p>
        </p:txBody>
      </p:sp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135D102A-610A-8597-FE6E-006117057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556" y="1260777"/>
            <a:ext cx="5446787" cy="5446787"/>
          </a:xfrm>
          <a:prstGeom prst="rect">
            <a:avLst/>
          </a:prstGeom>
        </p:spPr>
      </p:pic>
      <p:pic>
        <p:nvPicPr>
          <p:cNvPr id="7" name="Picture 6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55A3B128-0FCD-5DC0-552C-2CE9326EF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128" y="1297420"/>
            <a:ext cx="5446787" cy="54467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244ADE-9DB4-A319-74A5-26634B2774C6}"/>
              </a:ext>
            </a:extLst>
          </p:cNvPr>
          <p:cNvSpPr txBox="1"/>
          <p:nvPr/>
        </p:nvSpPr>
        <p:spPr>
          <a:xfrm>
            <a:off x="5392330" y="290182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2000-2017</a:t>
            </a:r>
          </a:p>
        </p:txBody>
      </p:sp>
    </p:spTree>
    <p:extLst>
      <p:ext uri="{BB962C8B-B14F-4D97-AF65-F5344CB8AC3E}">
        <p14:creationId xmlns:p14="http://schemas.microsoft.com/office/powerpoint/2010/main" val="3705882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4088-E49A-0B1D-85B8-2D07E0E7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6F6826-2F24-9AA2-6314-5AB939FF4968}"/>
              </a:ext>
            </a:extLst>
          </p:cNvPr>
          <p:cNvSpPr txBox="1"/>
          <p:nvPr/>
        </p:nvSpPr>
        <p:spPr>
          <a:xfrm>
            <a:off x="120534" y="290182"/>
            <a:ext cx="29967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ecosystem PACF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CE79C-2A41-F780-B8A1-9ED440963B15}"/>
              </a:ext>
            </a:extLst>
          </p:cNvPr>
          <p:cNvSpPr txBox="1"/>
          <p:nvPr/>
        </p:nvSpPr>
        <p:spPr>
          <a:xfrm>
            <a:off x="120534" y="1912154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1985-2017</a:t>
            </a:r>
          </a:p>
        </p:txBody>
      </p:sp>
      <p:pic>
        <p:nvPicPr>
          <p:cNvPr id="8" name="Picture 7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8CBEAB4C-900E-AC96-2073-2187117DC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5838" y="290182"/>
            <a:ext cx="6585210" cy="658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95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20AAE-1F61-9F68-C509-149D70B8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242CF7-392A-6D15-7853-5553E533B9FB}"/>
              </a:ext>
            </a:extLst>
          </p:cNvPr>
          <p:cNvSpPr txBox="1"/>
          <p:nvPr/>
        </p:nvSpPr>
        <p:spPr>
          <a:xfrm>
            <a:off x="120534" y="290182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LP/eco PACF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179D4-4E72-65CA-A24F-0D1620C2B160}"/>
              </a:ext>
            </a:extLst>
          </p:cNvPr>
          <p:cNvSpPr txBox="1"/>
          <p:nvPr/>
        </p:nvSpPr>
        <p:spPr>
          <a:xfrm>
            <a:off x="120534" y="1912154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1985-2017</a:t>
            </a:r>
          </a:p>
        </p:txBody>
      </p:sp>
      <p:pic>
        <p:nvPicPr>
          <p:cNvPr id="4" name="Picture 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2D723C70-C47A-9345-B038-683206ED2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2" y="147822"/>
            <a:ext cx="6408426" cy="640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193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D815-DA22-5804-3F55-65E04DD3C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DE6EDE-42AC-625F-025E-D576FF557E25}"/>
              </a:ext>
            </a:extLst>
          </p:cNvPr>
          <p:cNvSpPr txBox="1"/>
          <p:nvPr/>
        </p:nvSpPr>
        <p:spPr>
          <a:xfrm>
            <a:off x="120534" y="290182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LB/LBM PACF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196DFE-1514-8CD9-5F9F-E6ED7ACF5807}"/>
              </a:ext>
            </a:extLst>
          </p:cNvPr>
          <p:cNvSpPr txBox="1"/>
          <p:nvPr/>
        </p:nvSpPr>
        <p:spPr>
          <a:xfrm>
            <a:off x="120534" y="1912154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1985-2017</a:t>
            </a:r>
          </a:p>
        </p:txBody>
      </p:sp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2C1DD561-A036-966F-B222-EC30FAF45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342" y="0"/>
            <a:ext cx="6757416" cy="675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591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045F-3C56-EBB8-ACA8-A83A50EA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BD548D-5C7A-4E9D-B008-F0E2C229F4A2}"/>
              </a:ext>
            </a:extLst>
          </p:cNvPr>
          <p:cNvSpPr txBox="1"/>
          <p:nvPr/>
        </p:nvSpPr>
        <p:spPr>
          <a:xfrm>
            <a:off x="120534" y="290182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MP/M PACF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F0938-D421-78B7-347B-637BCE256BD4}"/>
              </a:ext>
            </a:extLst>
          </p:cNvPr>
          <p:cNvSpPr txBox="1"/>
          <p:nvPr/>
        </p:nvSpPr>
        <p:spPr>
          <a:xfrm>
            <a:off x="120534" y="1912154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1985-2017</a:t>
            </a:r>
          </a:p>
        </p:txBody>
      </p:sp>
      <p:pic>
        <p:nvPicPr>
          <p:cNvPr id="4" name="Picture 3" descr="A graph with lines and text&#10;&#10;AI-generated content may be incorrect.">
            <a:extLst>
              <a:ext uri="{FF2B5EF4-FFF2-40B4-BE49-F238E27FC236}">
                <a16:creationId xmlns:a16="http://schemas.microsoft.com/office/drawing/2014/main" id="{38946E20-07CC-2D65-8051-87FAAE306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190" y="74670"/>
            <a:ext cx="6576066" cy="657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72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7B70-4B84-CC54-F0E2-6659923FD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D983F-0941-63A3-8CC7-359D862AD3B7}"/>
              </a:ext>
            </a:extLst>
          </p:cNvPr>
          <p:cNvSpPr txBox="1"/>
          <p:nvPr/>
        </p:nvSpPr>
        <p:spPr>
          <a:xfrm>
            <a:off x="120534" y="290182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Other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30BA4-A1AF-C4ED-2F3C-0EB5A4617B72}"/>
              </a:ext>
            </a:extLst>
          </p:cNvPr>
          <p:cNvSpPr txBox="1"/>
          <p:nvPr/>
        </p:nvSpPr>
        <p:spPr>
          <a:xfrm>
            <a:off x="120534" y="705826"/>
            <a:ext cx="29967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1985-2017</a:t>
            </a:r>
          </a:p>
        </p:txBody>
      </p:sp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A7F282B8-12BE-90C3-FD6A-C43E505C5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18" y="1395984"/>
            <a:ext cx="4847850" cy="4847850"/>
          </a:xfrm>
          <a:prstGeom prst="rect">
            <a:avLst/>
          </a:prstGeom>
        </p:spPr>
      </p:pic>
      <p:pic>
        <p:nvPicPr>
          <p:cNvPr id="8" name="Picture 7" descr="A graph with lines and text&#10;&#10;AI-generated content may be incorrect.">
            <a:extLst>
              <a:ext uri="{FF2B5EF4-FFF2-40B4-BE49-F238E27FC236}">
                <a16:creationId xmlns:a16="http://schemas.microsoft.com/office/drawing/2014/main" id="{C18332CF-B566-6771-69B7-6CFD914E0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968" y="1473893"/>
            <a:ext cx="4847851" cy="484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816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C02C-6C7F-EACB-8DDA-38C81C8D6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3638-1C5A-CB26-2093-155B8B6D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attempt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78A69-05A4-7693-219E-1CE3E99BC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time series of 2000-2017</a:t>
            </a:r>
          </a:p>
          <a:p>
            <a:r>
              <a:rPr lang="en-US" dirty="0"/>
              <a:t>10 iterations</a:t>
            </a:r>
          </a:p>
          <a:p>
            <a:r>
              <a:rPr lang="en-US" dirty="0"/>
              <a:t>Lags 1 and 2 included in all ARIMAs</a:t>
            </a:r>
          </a:p>
          <a:p>
            <a:r>
              <a:rPr lang="en-US" dirty="0"/>
              <a:t>Innovation – lognormal distribution around 1; offset by mean of input time series (used lognormal to prevent model from giving us negatives)</a:t>
            </a:r>
          </a:p>
          <a:p>
            <a:r>
              <a:rPr lang="en-US" dirty="0"/>
              <a:t>Qs</a:t>
            </a:r>
          </a:p>
          <a:p>
            <a:pPr lvl="1"/>
            <a:r>
              <a:rPr lang="en-US" dirty="0"/>
              <a:t>Log-transform non-logit transformed SDs only: is this correct?</a:t>
            </a:r>
          </a:p>
          <a:p>
            <a:pPr lvl="1"/>
            <a:r>
              <a:rPr lang="en-US" dirty="0"/>
              <a:t>Start innovations are both based on lag 1: is this correct?</a:t>
            </a:r>
          </a:p>
        </p:txBody>
      </p:sp>
    </p:spTree>
    <p:extLst>
      <p:ext uri="{BB962C8B-B14F-4D97-AF65-F5344CB8AC3E}">
        <p14:creationId xmlns:p14="http://schemas.microsoft.com/office/powerpoint/2010/main" val="35185844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A434-E1AE-5896-E6FF-C54900E42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699F734-401D-2E8F-95A0-3D7947330B40}"/>
              </a:ext>
            </a:extLst>
          </p:cNvPr>
          <p:cNvSpPr txBox="1"/>
          <p:nvPr/>
        </p:nvSpPr>
        <p:spPr>
          <a:xfrm>
            <a:off x="6903718" y="0"/>
            <a:ext cx="5195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Compare ARIMAs to inputs</a:t>
            </a:r>
          </a:p>
        </p:txBody>
      </p:sp>
      <p:pic>
        <p:nvPicPr>
          <p:cNvPr id="21" name="Picture 20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71265D01-0017-E53F-011C-3F8995EF3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004" y="705606"/>
            <a:ext cx="5446787" cy="5446787"/>
          </a:xfrm>
          <a:prstGeom prst="rect">
            <a:avLst/>
          </a:prstGeom>
        </p:spPr>
      </p:pic>
      <p:pic>
        <p:nvPicPr>
          <p:cNvPr id="23" name="Picture 22" descr="A diagram of a device&#10;&#10;AI-generated content may be incorrect.">
            <a:extLst>
              <a:ext uri="{FF2B5EF4-FFF2-40B4-BE49-F238E27FC236}">
                <a16:creationId xmlns:a16="http://schemas.microsoft.com/office/drawing/2014/main" id="{D3962E06-3DB9-EDB9-E46D-BB2D11796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039" y="811114"/>
            <a:ext cx="5446787" cy="54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16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8E31-E52D-BCFB-1377-83588B598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085976B-97B0-361C-37E3-362DDF656D21}"/>
              </a:ext>
            </a:extLst>
          </p:cNvPr>
          <p:cNvSpPr txBox="1"/>
          <p:nvPr/>
        </p:nvSpPr>
        <p:spPr>
          <a:xfrm>
            <a:off x="6903718" y="0"/>
            <a:ext cx="5195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Compare ARIMAs to inputs</a:t>
            </a:r>
          </a:p>
        </p:txBody>
      </p:sp>
      <p:pic>
        <p:nvPicPr>
          <p:cNvPr id="19" name="Picture 18" descr="A diagram of data type&#10;&#10;AI-generated content may be incorrect.">
            <a:extLst>
              <a:ext uri="{FF2B5EF4-FFF2-40B4-BE49-F238E27FC236}">
                <a16:creationId xmlns:a16="http://schemas.microsoft.com/office/drawing/2014/main" id="{DD53BACE-817E-0D04-8736-7A77EBA66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71" y="921646"/>
            <a:ext cx="5446787" cy="5446787"/>
          </a:xfrm>
          <a:prstGeom prst="rect">
            <a:avLst/>
          </a:prstGeom>
        </p:spPr>
      </p:pic>
      <p:pic>
        <p:nvPicPr>
          <p:cNvPr id="5" name="Picture 4" descr="A diagram of a data type&#10;&#10;AI-generated content may be incorrect.">
            <a:extLst>
              <a:ext uri="{FF2B5EF4-FFF2-40B4-BE49-F238E27FC236}">
                <a16:creationId xmlns:a16="http://schemas.microsoft.com/office/drawing/2014/main" id="{362A29AC-899C-2C6E-AF24-572D4E6DF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039" y="921645"/>
            <a:ext cx="5446787" cy="54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139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11E6BD6-4998-F84F-3C9A-5C9742402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316998"/>
              </p:ext>
            </p:extLst>
          </p:nvPr>
        </p:nvGraphicFramePr>
        <p:xfrm>
          <a:off x="1790931" y="1307869"/>
          <a:ext cx="8127999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791502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982499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83683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ARIMA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Input time series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624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Ecosystem biomass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465.9033 million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367.1362 million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12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LP/eco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</a:rPr>
                        <a:t>0.28513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0.196588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669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LB/LBM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0.6945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0.1814795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638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MP/M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0.9071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0.7112051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8599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DC85616-9723-5CD2-4AFC-4DCA157EEF47}"/>
              </a:ext>
            </a:extLst>
          </p:cNvPr>
          <p:cNvSpPr txBox="1"/>
          <p:nvPr/>
        </p:nvSpPr>
        <p:spPr>
          <a:xfrm>
            <a:off x="3088176" y="137160"/>
            <a:ext cx="51954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Comparing ARIMAs to inputs - means</a:t>
            </a:r>
          </a:p>
        </p:txBody>
      </p:sp>
    </p:spTree>
    <p:extLst>
      <p:ext uri="{BB962C8B-B14F-4D97-AF65-F5344CB8AC3E}">
        <p14:creationId xmlns:p14="http://schemas.microsoft.com/office/powerpoint/2010/main" val="1608297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649D-5DF2-9F19-7B3E-BD8B38455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a graph showing different sizes of objects&#10;&#10;AI-generated content may be incorrect.">
            <a:extLst>
              <a:ext uri="{FF2B5EF4-FFF2-40B4-BE49-F238E27FC236}">
                <a16:creationId xmlns:a16="http://schemas.microsoft.com/office/drawing/2014/main" id="{8D16AF41-74EF-3737-F2BD-6D6E9E747E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808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665FA-1565-472E-E856-FBFF2DE30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0E6C4541-9AE5-C9FE-5441-35D8CD272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98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6A5D-26B8-9465-D88F-E712EBDF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0D17FDC8-7393-1777-B57C-D7DC23BE6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93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AFD0-C7E8-781E-A859-5AE2BE44E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804D4AF5-7046-F8E1-3E74-E5A4897CA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58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56F1C-0DF1-29DC-AEE1-3FC319422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975855DA-CC4C-88B6-F2DB-6C440F05B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131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growth of a number of years&#10;&#10;AI-generated content may be incorrect.">
            <a:extLst>
              <a:ext uri="{FF2B5EF4-FFF2-40B4-BE49-F238E27FC236}">
                <a16:creationId xmlns:a16="http://schemas.microsoft.com/office/drawing/2014/main" id="{95911B9B-DB71-70BE-B0A5-2F9879D28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95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ine graph with numbers and lines&#10;&#10;AI-generated content may be incorrect.">
            <a:extLst>
              <a:ext uri="{FF2B5EF4-FFF2-40B4-BE49-F238E27FC236}">
                <a16:creationId xmlns:a16="http://schemas.microsoft.com/office/drawing/2014/main" id="{EEFA65AA-1527-DC4B-DF00-28CA37194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4652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8133F06C-89EE-6764-7756-BA86A07D9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396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ine graph with numbers and lines&#10;&#10;AI-generated content may be incorrect.">
            <a:extLst>
              <a:ext uri="{FF2B5EF4-FFF2-40B4-BE49-F238E27FC236}">
                <a16:creationId xmlns:a16="http://schemas.microsoft.com/office/drawing/2014/main" id="{02DE2B63-F00C-6935-7437-FEE1CB68E6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338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3D3B-6319-BEE2-8864-79E07E74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B52F-7F38-B218-5C61-15681CC4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44"/>
            <a:ext cx="10515600" cy="1325563"/>
          </a:xfrm>
        </p:spPr>
        <p:txBody>
          <a:bodyPr/>
          <a:lstStyle/>
          <a:p>
            <a:r>
              <a:rPr lang="en-US" dirty="0"/>
              <a:t>Second attempt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5A2B7-98AD-BCBD-CF7D-F7E9A143B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156"/>
            <a:ext cx="10515600" cy="5029808"/>
          </a:xfrm>
        </p:spPr>
        <p:txBody>
          <a:bodyPr>
            <a:normAutofit/>
          </a:bodyPr>
          <a:lstStyle/>
          <a:p>
            <a:r>
              <a:rPr lang="en-US" dirty="0"/>
              <a:t>Input time series of 2000-2017</a:t>
            </a:r>
          </a:p>
          <a:p>
            <a:r>
              <a:rPr lang="en-US" dirty="0"/>
              <a:t>10 iterations</a:t>
            </a:r>
          </a:p>
          <a:p>
            <a:r>
              <a:rPr lang="en-US" dirty="0"/>
              <a:t>Lags 1 and 2 included in all ARIMAs</a:t>
            </a:r>
          </a:p>
          <a:p>
            <a:r>
              <a:rPr lang="en-US" dirty="0"/>
              <a:t>Innovation – lognormal distribution around 1 </a:t>
            </a:r>
            <a:r>
              <a:rPr lang="en-US" b="1" dirty="0"/>
              <a:t>only for ecosystem</a:t>
            </a:r>
            <a:r>
              <a:rPr lang="en-US" dirty="0"/>
              <a:t>; offset by mean of input time series (used lognormal to prevent model from giving us negatives)</a:t>
            </a:r>
          </a:p>
          <a:p>
            <a:r>
              <a:rPr lang="en-US" dirty="0"/>
              <a:t>Innovations for proportions </a:t>
            </a:r>
            <a:r>
              <a:rPr lang="en-US" b="1" dirty="0"/>
              <a:t>are from a normal distribution instead</a:t>
            </a:r>
          </a:p>
        </p:txBody>
      </p:sp>
    </p:spTree>
    <p:extLst>
      <p:ext uri="{BB962C8B-B14F-4D97-AF65-F5344CB8AC3E}">
        <p14:creationId xmlns:p14="http://schemas.microsoft.com/office/powerpoint/2010/main" val="28515975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FC695-58B5-373B-17A1-FDD2158FC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DD06779-BDA6-E9C3-C325-01DDCEB16FA0}"/>
              </a:ext>
            </a:extLst>
          </p:cNvPr>
          <p:cNvSpPr txBox="1"/>
          <p:nvPr/>
        </p:nvSpPr>
        <p:spPr>
          <a:xfrm>
            <a:off x="6903718" y="0"/>
            <a:ext cx="5195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Compare ARIMAs to inputs</a:t>
            </a:r>
          </a:p>
        </p:txBody>
      </p:sp>
      <p:pic>
        <p:nvPicPr>
          <p:cNvPr id="3" name="Picture 2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5C2D1620-8445-7587-5640-8E0474E1C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50" y="626635"/>
            <a:ext cx="5446787" cy="5446787"/>
          </a:xfrm>
          <a:prstGeom prst="rect">
            <a:avLst/>
          </a:prstGeom>
        </p:spPr>
      </p:pic>
      <p:pic>
        <p:nvPicPr>
          <p:cNvPr id="5" name="Picture 4" descr="A diagram of a diagram of a device&#10;&#10;AI-generated content may be incorrect.">
            <a:extLst>
              <a:ext uri="{FF2B5EF4-FFF2-40B4-BE49-F238E27FC236}">
                <a16:creationId xmlns:a16="http://schemas.microsoft.com/office/drawing/2014/main" id="{B0E1A1F4-E90B-7453-AC6E-DA79485AD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403" y="751326"/>
            <a:ext cx="5446787" cy="54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525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D439-236C-47A2-A2D2-D7667BDFC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7AF4428-6445-1041-B5E8-AD34E00D98B6}"/>
              </a:ext>
            </a:extLst>
          </p:cNvPr>
          <p:cNvSpPr txBox="1"/>
          <p:nvPr/>
        </p:nvSpPr>
        <p:spPr>
          <a:xfrm>
            <a:off x="6903718" y="0"/>
            <a:ext cx="5195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Compare ARIMAs to inputs</a:t>
            </a:r>
          </a:p>
        </p:txBody>
      </p:sp>
      <p:pic>
        <p:nvPicPr>
          <p:cNvPr id="3" name="Picture 2" descr="A diagram of a data type&#10;&#10;AI-generated content may be incorrect.">
            <a:extLst>
              <a:ext uri="{FF2B5EF4-FFF2-40B4-BE49-F238E27FC236}">
                <a16:creationId xmlns:a16="http://schemas.microsoft.com/office/drawing/2014/main" id="{2BABADCF-18CD-8FFE-7608-422565673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275" y="1000708"/>
            <a:ext cx="5446787" cy="5446787"/>
          </a:xfrm>
          <a:prstGeom prst="rect">
            <a:avLst/>
          </a:prstGeom>
        </p:spPr>
      </p:pic>
      <p:pic>
        <p:nvPicPr>
          <p:cNvPr id="6" name="Picture 5" descr="A diagram of a computer device&#10;&#10;AI-generated content may be incorrect.">
            <a:extLst>
              <a:ext uri="{FF2B5EF4-FFF2-40B4-BE49-F238E27FC236}">
                <a16:creationId xmlns:a16="http://schemas.microsoft.com/office/drawing/2014/main" id="{0AAB05EC-52C7-D0BF-558D-FF2679971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7" y="988239"/>
            <a:ext cx="5446787" cy="54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796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77067-482B-0476-FE92-F6340B98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71D78F-B52B-DDFF-3F00-30187B70F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871369"/>
              </p:ext>
            </p:extLst>
          </p:nvPr>
        </p:nvGraphicFramePr>
        <p:xfrm>
          <a:off x="1790931" y="1307869"/>
          <a:ext cx="8127999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791502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982499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83683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ARIMA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Input time series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624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Ecosystem biomass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448.5536 million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367.1362 million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12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LP/eco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</a:rPr>
                        <a:t>0.1311101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0.196588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669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LB/LBM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0.2110537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0.1814795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638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MP/M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0.74285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0.7112051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8599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ECCE28-576E-542C-8036-AE6244D3E3FE}"/>
              </a:ext>
            </a:extLst>
          </p:cNvPr>
          <p:cNvSpPr txBox="1"/>
          <p:nvPr/>
        </p:nvSpPr>
        <p:spPr>
          <a:xfrm>
            <a:off x="3088176" y="137160"/>
            <a:ext cx="51954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Comparing ARIMAs to inputs - means</a:t>
            </a:r>
          </a:p>
        </p:txBody>
      </p:sp>
    </p:spTree>
    <p:extLst>
      <p:ext uri="{BB962C8B-B14F-4D97-AF65-F5344CB8AC3E}">
        <p14:creationId xmlns:p14="http://schemas.microsoft.com/office/powerpoint/2010/main" val="28525402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D8F2E-D936-A020-6E32-2E1C485A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shapes&#10;&#10;AI-generated content may be incorrect.">
            <a:extLst>
              <a:ext uri="{FF2B5EF4-FFF2-40B4-BE49-F238E27FC236}">
                <a16:creationId xmlns:a16="http://schemas.microsoft.com/office/drawing/2014/main" id="{7869DA93-15D9-A562-69D4-15CCDD5FF3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90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C08F-C4B0-980D-8D9D-AC51EFBE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of different shapes&#10;&#10;AI-generated content may be incorrect.">
            <a:extLst>
              <a:ext uri="{FF2B5EF4-FFF2-40B4-BE49-F238E27FC236}">
                <a16:creationId xmlns:a16="http://schemas.microsoft.com/office/drawing/2014/main" id="{343C8AFE-A57A-6460-EAA3-6240A2091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9241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BC96D-0C71-A390-8D5C-37816DEBC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shapes&#10;&#10;AI-generated content may be incorrect.">
            <a:extLst>
              <a:ext uri="{FF2B5EF4-FFF2-40B4-BE49-F238E27FC236}">
                <a16:creationId xmlns:a16="http://schemas.microsoft.com/office/drawing/2014/main" id="{0AD97D0A-5F44-BF08-6235-77EC96145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8839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B0EC1-EA45-E921-5A6E-6DE0A279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number of objects&#10;&#10;AI-generated content may be incorrect.">
            <a:extLst>
              <a:ext uri="{FF2B5EF4-FFF2-40B4-BE49-F238E27FC236}">
                <a16:creationId xmlns:a16="http://schemas.microsoft.com/office/drawing/2014/main" id="{9E90FA50-3900-AE5F-47A5-59C10A840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945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4C0E7AFB-193B-C6D2-F47D-418B7B34D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700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6E321841-3F73-67EF-D547-B03F2CEF60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430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years&#10;&#10;AI-generated content may be incorrect.">
            <a:extLst>
              <a:ext uri="{FF2B5EF4-FFF2-40B4-BE49-F238E27FC236}">
                <a16:creationId xmlns:a16="http://schemas.microsoft.com/office/drawing/2014/main" id="{4A77C207-EF58-3D3E-5BFF-F2B7C4FC4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705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AA3B77F1-21E4-7416-A63C-0DAF7D6CA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135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BA6ACA6A-CBD2-D7C9-4538-D9475EA2B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7584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5D73-C7F5-224F-2E5D-67B29E25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E8FE8-4387-CD5F-DF38-4B2665841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44"/>
            <a:ext cx="10515600" cy="1325563"/>
          </a:xfrm>
        </p:spPr>
        <p:txBody>
          <a:bodyPr/>
          <a:lstStyle/>
          <a:p>
            <a:r>
              <a:rPr lang="en-US" dirty="0"/>
              <a:t>Third attempt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A74FC-D677-CB93-4B8E-A7BB8F9DF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156"/>
            <a:ext cx="10515600" cy="5029808"/>
          </a:xfrm>
        </p:spPr>
        <p:txBody>
          <a:bodyPr>
            <a:normAutofit/>
          </a:bodyPr>
          <a:lstStyle/>
          <a:p>
            <a:r>
              <a:rPr lang="en-US" dirty="0"/>
              <a:t>Input time series of 2000-2017</a:t>
            </a:r>
          </a:p>
          <a:p>
            <a:r>
              <a:rPr lang="en-US" dirty="0"/>
              <a:t>10 iterations</a:t>
            </a:r>
          </a:p>
          <a:p>
            <a:r>
              <a:rPr lang="en-US" dirty="0"/>
              <a:t>Lags 1 and 2 included in all ARIMAs</a:t>
            </a:r>
          </a:p>
          <a:p>
            <a:r>
              <a:rPr lang="en-US" dirty="0"/>
              <a:t>Innovation – lognormal distribution around 1 </a:t>
            </a:r>
            <a:r>
              <a:rPr lang="en-US" b="1" dirty="0"/>
              <a:t>only for ecosystem</a:t>
            </a:r>
            <a:r>
              <a:rPr lang="en-US" dirty="0"/>
              <a:t>; offset by mean of input time series (used lognormal to prevent model from giving us negatives)</a:t>
            </a:r>
          </a:p>
          <a:p>
            <a:r>
              <a:rPr lang="en-US" dirty="0"/>
              <a:t>Innovations for proportions </a:t>
            </a:r>
            <a:r>
              <a:rPr lang="en-US" b="1" dirty="0"/>
              <a:t>are from a normal distribution instead</a:t>
            </a:r>
          </a:p>
          <a:p>
            <a:r>
              <a:rPr lang="en-US" b="1" dirty="0"/>
              <a:t>Switch placement of mean in proportion ARIMAs (in innovation instead of out front)</a:t>
            </a:r>
          </a:p>
        </p:txBody>
      </p:sp>
    </p:spTree>
    <p:extLst>
      <p:ext uri="{BB962C8B-B14F-4D97-AF65-F5344CB8AC3E}">
        <p14:creationId xmlns:p14="http://schemas.microsoft.com/office/powerpoint/2010/main" val="21090078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A2A21-52F0-6114-2842-F8877431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37C8B66-0718-9BF6-5FAE-1FE80FEBBC39}"/>
              </a:ext>
            </a:extLst>
          </p:cNvPr>
          <p:cNvSpPr txBox="1"/>
          <p:nvPr/>
        </p:nvSpPr>
        <p:spPr>
          <a:xfrm>
            <a:off x="6903718" y="0"/>
            <a:ext cx="5195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Compare ARIMAs to inputs</a:t>
            </a:r>
          </a:p>
        </p:txBody>
      </p:sp>
      <p:pic>
        <p:nvPicPr>
          <p:cNvPr id="4" name="Picture 3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8A66BBDE-FC11-DD83-0BDA-347441ACB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97" y="806089"/>
            <a:ext cx="5446787" cy="5446787"/>
          </a:xfrm>
          <a:prstGeom prst="rect">
            <a:avLst/>
          </a:prstGeom>
        </p:spPr>
      </p:pic>
      <p:pic>
        <p:nvPicPr>
          <p:cNvPr id="7" name="Picture 6" descr="A diagram of a diagram of a type of data&#10;&#10;AI-generated content may be incorrect.">
            <a:extLst>
              <a:ext uri="{FF2B5EF4-FFF2-40B4-BE49-F238E27FC236}">
                <a16:creationId xmlns:a16="http://schemas.microsoft.com/office/drawing/2014/main" id="{E786DB0A-DF40-04B0-13CA-C19B2D0B5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018" y="838745"/>
            <a:ext cx="5446787" cy="54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676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E54D-83F0-B452-FE93-6F66D62D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4700517-5F10-368B-4223-A34124907FF5}"/>
              </a:ext>
            </a:extLst>
          </p:cNvPr>
          <p:cNvSpPr txBox="1"/>
          <p:nvPr/>
        </p:nvSpPr>
        <p:spPr>
          <a:xfrm>
            <a:off x="6903718" y="0"/>
            <a:ext cx="51954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Compare ARIMAs to inputs</a:t>
            </a:r>
          </a:p>
        </p:txBody>
      </p:sp>
      <p:pic>
        <p:nvPicPr>
          <p:cNvPr id="4" name="Picture 3" descr="A diagram of a data type&#10;&#10;AI-generated content may be incorrect.">
            <a:extLst>
              <a:ext uri="{FF2B5EF4-FFF2-40B4-BE49-F238E27FC236}">
                <a16:creationId xmlns:a16="http://schemas.microsoft.com/office/drawing/2014/main" id="{265D2A17-0A53-9DDB-0E7D-DD485CE90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468" y="913425"/>
            <a:ext cx="5446787" cy="5446787"/>
          </a:xfrm>
          <a:prstGeom prst="rect">
            <a:avLst/>
          </a:prstGeom>
        </p:spPr>
      </p:pic>
      <p:pic>
        <p:nvPicPr>
          <p:cNvPr id="7" name="Picture 6" descr="A diagram of a device&#10;&#10;AI-generated content may be incorrect.">
            <a:extLst>
              <a:ext uri="{FF2B5EF4-FFF2-40B4-BE49-F238E27FC236}">
                <a16:creationId xmlns:a16="http://schemas.microsoft.com/office/drawing/2014/main" id="{D257ACF1-2151-263F-E383-36D2C13CB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5" y="821162"/>
            <a:ext cx="5446787" cy="544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157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7B545-61B4-DD2D-F6B3-22F72CE8C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78BD02-1958-E1CE-7F61-B378E990D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598453"/>
              </p:ext>
            </p:extLst>
          </p:nvPr>
        </p:nvGraphicFramePr>
        <p:xfrm>
          <a:off x="1790931" y="1307869"/>
          <a:ext cx="8127999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7915022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9824996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83683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ARIMA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Input time series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624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Ecosystem biomass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448.5536 million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433.8898 million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12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LP/eco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</a:rPr>
                        <a:t>0.1311101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0.13643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669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LB/LBM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0.2110537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0.16029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638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MP/M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0.74285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effectLst/>
                        </a:rPr>
                        <a:t>0.7646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8599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ACD790B-D567-BE82-BD65-9CD4BBEA3E1D}"/>
              </a:ext>
            </a:extLst>
          </p:cNvPr>
          <p:cNvSpPr txBox="1"/>
          <p:nvPr/>
        </p:nvSpPr>
        <p:spPr>
          <a:xfrm>
            <a:off x="3088176" y="137160"/>
            <a:ext cx="51954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Comparing ARIMAs to inputs - means</a:t>
            </a:r>
          </a:p>
        </p:txBody>
      </p:sp>
    </p:spTree>
    <p:extLst>
      <p:ext uri="{BB962C8B-B14F-4D97-AF65-F5344CB8AC3E}">
        <p14:creationId xmlns:p14="http://schemas.microsoft.com/office/powerpoint/2010/main" val="30843748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F198-E08D-5608-8DC9-6DA0EF31A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shapes&#10;&#10;AI-generated content may be incorrect.">
            <a:extLst>
              <a:ext uri="{FF2B5EF4-FFF2-40B4-BE49-F238E27FC236}">
                <a16:creationId xmlns:a16="http://schemas.microsoft.com/office/drawing/2014/main" id="{41F0AF1C-57BE-349D-6F2E-81E44C33B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402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1D764-B7B8-8FDC-1C89-922CD26E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1958E4D6-93A4-178B-FC13-61DE369F5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9023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2D9D1-E433-61F6-B367-CA9C7B36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sizes of objects&#10;&#10;AI-generated content may be incorrect.">
            <a:extLst>
              <a:ext uri="{FF2B5EF4-FFF2-40B4-BE49-F238E27FC236}">
                <a16:creationId xmlns:a16="http://schemas.microsoft.com/office/drawing/2014/main" id="{F31FD4C0-2F73-1441-EB2F-BA9B561BB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3286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ED30-ADD5-B694-A83A-5DB1E846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blue objects&#10;&#10;AI-generated content may be incorrect.">
            <a:extLst>
              <a:ext uri="{FF2B5EF4-FFF2-40B4-BE49-F238E27FC236}">
                <a16:creationId xmlns:a16="http://schemas.microsoft.com/office/drawing/2014/main" id="{EE7E4300-84E4-5EF3-9A32-6A7803EEB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481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05D79-FC8C-06C0-DB9A-F4BDF32AE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FB04CF00-7FE8-C6D8-3683-2696572B1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1801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BCC1F-6C48-5B40-BF56-7796B2137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of a graph showing the number of years&#10;&#10;AI-generated content may be incorrect.">
            <a:extLst>
              <a:ext uri="{FF2B5EF4-FFF2-40B4-BE49-F238E27FC236}">
                <a16:creationId xmlns:a16="http://schemas.microsoft.com/office/drawing/2014/main" id="{AEEF8602-F68E-BDA0-06A2-04BC8ACAC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1352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12E2-3AC5-D208-BA9B-7C5ACF9EB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the number of years&#10;&#10;AI-generated content may be incorrect.">
            <a:extLst>
              <a:ext uri="{FF2B5EF4-FFF2-40B4-BE49-F238E27FC236}">
                <a16:creationId xmlns:a16="http://schemas.microsoft.com/office/drawing/2014/main" id="{9CE8B451-6DBC-E7EA-7362-60D1B78F3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235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07E76-FBEF-6893-0FFE-93C20C740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the growth of a stock market&#10;&#10;AI-generated content may be incorrect.">
            <a:extLst>
              <a:ext uri="{FF2B5EF4-FFF2-40B4-BE49-F238E27FC236}">
                <a16:creationId xmlns:a16="http://schemas.microsoft.com/office/drawing/2014/main" id="{3193D9B4-8E15-51E4-E33A-73E197929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879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23779-E2D7-4ADD-63D0-2A136184E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the growth of a number of years&#10;&#10;AI-generated content may be incorrect.">
            <a:extLst>
              <a:ext uri="{FF2B5EF4-FFF2-40B4-BE49-F238E27FC236}">
                <a16:creationId xmlns:a16="http://schemas.microsoft.com/office/drawing/2014/main" id="{53595EF8-A933-BDC0-1C6F-0EA2E0F216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930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B068030-EDAC-C2B4-0E4B-5E8313CC3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358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34FBDA1-5C3A-DFFE-C413-07575B6AE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9596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735DEAA-1A71-1426-F1CA-DF414243F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00" y="228593"/>
            <a:ext cx="1116179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032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E1C5-0232-609B-4161-B3AA228E9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CDDDFF-A2FB-3DF1-BE72-FC0A4FFBC1D9}"/>
              </a:ext>
            </a:extLst>
          </p:cNvPr>
          <p:cNvSpPr/>
          <p:nvPr/>
        </p:nvSpPr>
        <p:spPr>
          <a:xfrm>
            <a:off x="216131" y="286791"/>
            <a:ext cx="1093817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LP 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1F0F82-8293-56A0-5080-20320462EE8A}"/>
              </a:ext>
            </a:extLst>
          </p:cNvPr>
          <p:cNvSpPr/>
          <p:nvPr/>
        </p:nvSpPr>
        <p:spPr>
          <a:xfrm>
            <a:off x="2031350" y="286791"/>
            <a:ext cx="117781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LP/eco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59A6DB-B717-64CB-4DB1-7C86836D1B2D}"/>
              </a:ext>
            </a:extLst>
          </p:cNvPr>
          <p:cNvSpPr/>
          <p:nvPr/>
        </p:nvSpPr>
        <p:spPr>
          <a:xfrm>
            <a:off x="3833103" y="286791"/>
            <a:ext cx="2858643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eco K ( LP/(LP/eco) 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9CC6B1-77D4-BAE1-C514-4D07BC14934F}"/>
              </a:ext>
            </a:extLst>
          </p:cNvPr>
          <p:cNvSpPr/>
          <p:nvPr/>
        </p:nvSpPr>
        <p:spPr>
          <a:xfrm>
            <a:off x="4014538" y="1546518"/>
            <a:ext cx="2502847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LBM (eco – LP)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119D38-7CB1-51A6-5DB4-335162087FCE}"/>
              </a:ext>
            </a:extLst>
          </p:cNvPr>
          <p:cNvSpPr/>
          <p:nvPr/>
        </p:nvSpPr>
        <p:spPr>
          <a:xfrm>
            <a:off x="4512842" y="2554086"/>
            <a:ext cx="1499163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LB/LBM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4FD227-8E03-B827-E6AF-27C536508EC7}"/>
              </a:ext>
            </a:extLst>
          </p:cNvPr>
          <p:cNvSpPr/>
          <p:nvPr/>
        </p:nvSpPr>
        <p:spPr>
          <a:xfrm>
            <a:off x="3680212" y="3619496"/>
            <a:ext cx="3164421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LB K (LBM * LB/LBM)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E5EE5C-F054-088A-FD1B-4297FE643BE3}"/>
              </a:ext>
            </a:extLst>
          </p:cNvPr>
          <p:cNvSpPr/>
          <p:nvPr/>
        </p:nvSpPr>
        <p:spPr>
          <a:xfrm>
            <a:off x="4131209" y="4557450"/>
            <a:ext cx="2269505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 K (LBM – LB)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FCD4B7-AA55-7A0F-5CFE-21EA5A2132D4}"/>
              </a:ext>
            </a:extLst>
          </p:cNvPr>
          <p:cNvSpPr/>
          <p:nvPr/>
        </p:nvSpPr>
        <p:spPr>
          <a:xfrm>
            <a:off x="4597132" y="5755176"/>
            <a:ext cx="133058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MP/M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CFDCB2-A307-0100-23B5-A7D878D304D3}"/>
              </a:ext>
            </a:extLst>
          </p:cNvPr>
          <p:cNvSpPr/>
          <p:nvPr/>
        </p:nvSpPr>
        <p:spPr>
          <a:xfrm>
            <a:off x="6264290" y="5755176"/>
            <a:ext cx="258584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MP K (M * MP/M)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CC2C60-B67D-826B-331F-A57E00A62047}"/>
              </a:ext>
            </a:extLst>
          </p:cNvPr>
          <p:cNvSpPr/>
          <p:nvPr/>
        </p:nvSpPr>
        <p:spPr>
          <a:xfrm>
            <a:off x="9299975" y="6062747"/>
            <a:ext cx="258584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MBZ K (M – MP)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ED9AAD-95F6-62E7-4C63-FC8000D94875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1309948" y="546563"/>
            <a:ext cx="7214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02FF88-B1DD-54DA-FC1F-6FF2DFC61B4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209160" y="546563"/>
            <a:ext cx="62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C52D3B-1557-AE86-C342-E7C52CB94E0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262425" y="806335"/>
            <a:ext cx="3537" cy="740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E7E2F5-286E-4165-C356-860D614EE83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5262424" y="2066062"/>
            <a:ext cx="3538" cy="488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B3ECE85-C21A-396A-D745-3BC15478B91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5262423" y="3073630"/>
            <a:ext cx="1" cy="545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2AD1F6-1381-2922-8F89-ECF35C79F13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262423" y="4139040"/>
            <a:ext cx="3539" cy="418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6617581-64FD-82DE-3607-C49F18ECF6B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262422" y="5076994"/>
            <a:ext cx="3540" cy="67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229C819-2887-7EAA-83B2-8157CDA08E4E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5927712" y="6014948"/>
            <a:ext cx="336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045CCAB-E53F-DD05-689C-03448AED0A0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8850130" y="6014948"/>
            <a:ext cx="449845" cy="307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AC2008E-291D-9613-4909-80258FCBB882}"/>
              </a:ext>
            </a:extLst>
          </p:cNvPr>
          <p:cNvSpPr/>
          <p:nvPr/>
        </p:nvSpPr>
        <p:spPr>
          <a:xfrm rot="16200000">
            <a:off x="1115952" y="1410473"/>
            <a:ext cx="1176046" cy="965713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009592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2B86-301A-3283-0C47-5052F4A8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B49C1D-6585-3E73-3261-846676D41C64}"/>
              </a:ext>
            </a:extLst>
          </p:cNvPr>
          <p:cNvSpPr/>
          <p:nvPr/>
        </p:nvSpPr>
        <p:spPr>
          <a:xfrm>
            <a:off x="216131" y="286791"/>
            <a:ext cx="1093817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M 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7C0E43-1220-FD68-DCBD-8F745B8393E4}"/>
              </a:ext>
            </a:extLst>
          </p:cNvPr>
          <p:cNvSpPr/>
          <p:nvPr/>
        </p:nvSpPr>
        <p:spPr>
          <a:xfrm>
            <a:off x="1787236" y="286791"/>
            <a:ext cx="1421924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M/eco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35841-CDC8-0F19-756C-BE72B1679468}"/>
              </a:ext>
            </a:extLst>
          </p:cNvPr>
          <p:cNvSpPr/>
          <p:nvPr/>
        </p:nvSpPr>
        <p:spPr>
          <a:xfrm>
            <a:off x="3833103" y="286790"/>
            <a:ext cx="2842017" cy="771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eco K ( M/(M/eco) 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B5DA57-51A2-52AC-6BA9-345000195861}"/>
              </a:ext>
            </a:extLst>
          </p:cNvPr>
          <p:cNvSpPr/>
          <p:nvPr/>
        </p:nvSpPr>
        <p:spPr>
          <a:xfrm>
            <a:off x="3817230" y="1552755"/>
            <a:ext cx="2873762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 (eco – 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9BEC06-8B39-E427-8CEC-14ABFC823D16}"/>
              </a:ext>
            </a:extLst>
          </p:cNvPr>
          <p:cNvSpPr/>
          <p:nvPr/>
        </p:nvSpPr>
        <p:spPr>
          <a:xfrm>
            <a:off x="4512842" y="2554086"/>
            <a:ext cx="1499163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LB/L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67407A-BE9D-BE57-0E05-8566FB1FB1A6}"/>
              </a:ext>
            </a:extLst>
          </p:cNvPr>
          <p:cNvSpPr/>
          <p:nvPr/>
        </p:nvSpPr>
        <p:spPr>
          <a:xfrm>
            <a:off x="3680212" y="3619496"/>
            <a:ext cx="3164421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LB K (L * LB/L)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91F85E-9BA3-8D6E-529A-3B0B4F5C4BAD}"/>
              </a:ext>
            </a:extLst>
          </p:cNvPr>
          <p:cNvSpPr/>
          <p:nvPr/>
        </p:nvSpPr>
        <p:spPr>
          <a:xfrm>
            <a:off x="4131209" y="4557450"/>
            <a:ext cx="2269505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LP K (L – LB)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F2CDA2D-B454-20FD-C868-22C193569CDA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1309948" y="546563"/>
            <a:ext cx="4772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B02718F-9765-2763-0D85-62422EFCD209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209160" y="546563"/>
            <a:ext cx="623943" cy="1260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B3BB54-18D9-1BC7-A38C-C3D5F31965E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5254111" y="1058493"/>
            <a:ext cx="1" cy="494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5BBE14-250B-5C53-4186-611E289EB38F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254111" y="2072299"/>
            <a:ext cx="8313" cy="481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97AD0A-DC34-EA37-9D8E-B251D484C889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5262423" y="3073630"/>
            <a:ext cx="1" cy="545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312D2C2-6079-1E0D-6DB2-3AD04402E58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262423" y="4139040"/>
            <a:ext cx="3539" cy="4184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EFC661B-A476-D76A-7E30-60FDE1CACB3E}"/>
              </a:ext>
            </a:extLst>
          </p:cNvPr>
          <p:cNvCxnSpPr>
            <a:cxnSpLocks/>
            <a:stCxn id="5" idx="3"/>
            <a:endCxn id="39" idx="1"/>
          </p:cNvCxnSpPr>
          <p:nvPr/>
        </p:nvCxnSpPr>
        <p:spPr>
          <a:xfrm>
            <a:off x="6690992" y="1812527"/>
            <a:ext cx="608049" cy="40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7A32F95-C085-54F3-9A0E-A48D42E56D8B}"/>
              </a:ext>
            </a:extLst>
          </p:cNvPr>
          <p:cNvSpPr/>
          <p:nvPr/>
        </p:nvSpPr>
        <p:spPr>
          <a:xfrm>
            <a:off x="7299041" y="1593271"/>
            <a:ext cx="133058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</a:rPr>
              <a:t>MBZ/M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544F69-3CEC-E348-0383-259E9515F49B}"/>
              </a:ext>
            </a:extLst>
          </p:cNvPr>
          <p:cNvSpPr/>
          <p:nvPr/>
        </p:nvSpPr>
        <p:spPr>
          <a:xfrm>
            <a:off x="8966199" y="1593270"/>
            <a:ext cx="2585840" cy="681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MBZ K (M * MBZ/M)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9D73AD-115F-C661-B97A-1EFE94D4A42F}"/>
              </a:ext>
            </a:extLst>
          </p:cNvPr>
          <p:cNvSpPr/>
          <p:nvPr/>
        </p:nvSpPr>
        <p:spPr>
          <a:xfrm>
            <a:off x="8966199" y="2826327"/>
            <a:ext cx="2585840" cy="5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MP K (M – MBZ)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E0694B3-D628-12BC-1280-B4CCA4FB019F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8629621" y="1853043"/>
            <a:ext cx="336578" cy="81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04E4D04-71A2-D2B3-CFAC-944393A8BBBE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10259119" y="2275267"/>
            <a:ext cx="0" cy="551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918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912F-393C-5F16-0CFC-6FDEFFDC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F8D01-65A4-1234-D00C-019EE63A0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non-significant </a:t>
            </a:r>
            <a:r>
              <a:rPr lang="en-US" dirty="0" err="1"/>
              <a:t>pacf</a:t>
            </a:r>
            <a:r>
              <a:rPr lang="en-US" dirty="0"/>
              <a:t> actually a problem? No</a:t>
            </a:r>
          </a:p>
          <a:p>
            <a:r>
              <a:rPr lang="en-US" dirty="0"/>
              <a:t>High CIs?</a:t>
            </a:r>
          </a:p>
          <a:p>
            <a:r>
              <a:rPr lang="en-US" dirty="0"/>
              <a:t>What are </a:t>
            </a:r>
            <a:r>
              <a:rPr lang="en-US" dirty="0" err="1"/>
              <a:t>ccfs</a:t>
            </a:r>
            <a:r>
              <a:rPr lang="en-US" dirty="0"/>
              <a:t> doing in model? Just for description? Yes</a:t>
            </a:r>
          </a:p>
          <a:p>
            <a:r>
              <a:rPr lang="en-US" dirty="0"/>
              <a:t>Thoughts on how to get around the partitioning within M issue? N/A</a:t>
            </a:r>
          </a:p>
          <a:p>
            <a:r>
              <a:rPr lang="en-US" dirty="0"/>
              <a:t>Started K simulation – getting negative biomasses for first ARIMA. How to avoid this (non-stationary, not enough years)? Fixed</a:t>
            </a:r>
          </a:p>
          <a:p>
            <a:r>
              <a:rPr lang="en-US" dirty="0"/>
              <a:t>Details on ARIMA – is this actually an AR(n), why no MA, what are innovations, what is </a:t>
            </a:r>
            <a:r>
              <a:rPr lang="en-US" dirty="0" err="1"/>
              <a:t>arima.sim</a:t>
            </a:r>
            <a:r>
              <a:rPr lang="en-US" dirty="0"/>
              <a:t>() doing? Explained</a:t>
            </a:r>
          </a:p>
        </p:txBody>
      </p:sp>
    </p:spTree>
    <p:extLst>
      <p:ext uri="{BB962C8B-B14F-4D97-AF65-F5344CB8AC3E}">
        <p14:creationId xmlns:p14="http://schemas.microsoft.com/office/powerpoint/2010/main" val="37069280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8461-0CC7-E778-F889-AD83341C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Fishing function problem?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8B0010-1B28-D799-0FF7-8801E4A42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84" y="1518731"/>
            <a:ext cx="11172485" cy="463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810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DD648-3CF0-E30F-C818-77309CDEA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99685-A980-28C3-FAC5-CE3E1585A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35C8A-CDD8-EACD-9377-A7232B5AA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are MP and MBZ not starting in the right place?</a:t>
            </a:r>
          </a:p>
          <a:p>
            <a:r>
              <a:rPr lang="en-US" dirty="0"/>
              <a:t>Fishing function problem</a:t>
            </a:r>
          </a:p>
          <a:p>
            <a:r>
              <a:rPr lang="en-US" dirty="0"/>
              <a:t>Converting rest of MPM to be based on FG</a:t>
            </a:r>
          </a:p>
          <a:p>
            <a:r>
              <a:rPr lang="en-US" dirty="0"/>
              <a:t>Trying to run K sims with entire input time series (detrend by fitting a GAM and doing PACF on residuals to parameterize the ARIMAs)</a:t>
            </a:r>
          </a:p>
          <a:p>
            <a:r>
              <a:rPr lang="en-US" dirty="0"/>
              <a:t>Try different K sim formats</a:t>
            </a:r>
          </a:p>
        </p:txBody>
      </p:sp>
    </p:spTree>
    <p:extLst>
      <p:ext uri="{BB962C8B-B14F-4D97-AF65-F5344CB8AC3E}">
        <p14:creationId xmlns:p14="http://schemas.microsoft.com/office/powerpoint/2010/main" val="4020993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19873</TotalTime>
  <Words>1760</Words>
  <Application>Microsoft Office PowerPoint</Application>
  <PresentationFormat>Widescreen</PresentationFormat>
  <Paragraphs>293</Paragraphs>
  <Slides>77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Aptos</vt:lpstr>
      <vt:lpstr>Aptos Display</vt:lpstr>
      <vt:lpstr>Arial</vt:lpstr>
      <vt:lpstr>Cambria Math</vt:lpstr>
      <vt:lpstr>Office Theme</vt:lpstr>
      <vt:lpstr>MPM Test Run – ESS Functional Groups</vt:lpstr>
      <vt:lpstr>Functional Groups</vt:lpstr>
      <vt:lpstr>PowerPoint Presentation</vt:lpstr>
      <vt:lpstr>PowerPoint Presentation</vt:lpstr>
      <vt:lpstr>Rationale behind classification (Bundy et al. 2017)</vt:lpstr>
      <vt:lpstr>PowerPoint Presentation</vt:lpstr>
      <vt:lpstr>Describing the ecosystem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 simulations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First attempt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Second attempt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Third attempt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Qs</vt:lpstr>
      <vt:lpstr>Fishing function problem?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Baribeau</dc:creator>
  <cp:lastModifiedBy>Danielle Baribeau</cp:lastModifiedBy>
  <cp:revision>44</cp:revision>
  <dcterms:created xsi:type="dcterms:W3CDTF">2026-02-04T19:55:42Z</dcterms:created>
  <dcterms:modified xsi:type="dcterms:W3CDTF">2026-02-19T14:46:20Z</dcterms:modified>
</cp:coreProperties>
</file>